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03" r:id="rId2"/>
    <p:sldId id="497" r:id="rId3"/>
    <p:sldId id="500" r:id="rId4"/>
    <p:sldId id="514" r:id="rId5"/>
    <p:sldId id="518" r:id="rId6"/>
    <p:sldId id="515" r:id="rId7"/>
    <p:sldId id="521" r:id="rId8"/>
    <p:sldId id="525" r:id="rId9"/>
    <p:sldId id="526" r:id="rId10"/>
    <p:sldId id="530" r:id="rId11"/>
    <p:sldId id="527" r:id="rId12"/>
    <p:sldId id="528" r:id="rId13"/>
    <p:sldId id="529" r:id="rId14"/>
    <p:sldId id="531" r:id="rId15"/>
    <p:sldId id="532" r:id="rId16"/>
    <p:sldId id="534" r:id="rId17"/>
    <p:sldId id="533" r:id="rId18"/>
    <p:sldId id="535" r:id="rId19"/>
    <p:sldId id="536" r:id="rId20"/>
    <p:sldId id="538" r:id="rId21"/>
    <p:sldId id="540" r:id="rId22"/>
    <p:sldId id="541" r:id="rId23"/>
    <p:sldId id="542" r:id="rId24"/>
    <p:sldId id="556" r:id="rId25"/>
    <p:sldId id="557" r:id="rId26"/>
    <p:sldId id="562" r:id="rId27"/>
    <p:sldId id="563" r:id="rId28"/>
    <p:sldId id="573" r:id="rId29"/>
    <p:sldId id="553" r:id="rId30"/>
    <p:sldId id="574" r:id="rId31"/>
    <p:sldId id="550" r:id="rId32"/>
    <p:sldId id="577" r:id="rId33"/>
    <p:sldId id="561" r:id="rId34"/>
    <p:sldId id="586" r:id="rId35"/>
    <p:sldId id="587" r:id="rId36"/>
    <p:sldId id="588" r:id="rId37"/>
    <p:sldId id="589" r:id="rId38"/>
    <p:sldId id="590" r:id="rId39"/>
    <p:sldId id="591" r:id="rId40"/>
    <p:sldId id="592" r:id="rId41"/>
    <p:sldId id="593" r:id="rId42"/>
    <p:sldId id="594" r:id="rId43"/>
    <p:sldId id="53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CA87AE-0E7A-4A61-A870-D8D3B409CFE7}" v="78" dt="2026-03-16T07:03:55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BEFAC-5FA7-42A9-ADDE-33A5507F52D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F6ADC-D63F-41CF-A224-2B4F50819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48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93F2-D779-B82A-B7A8-A1BDED48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C369C-57C3-25A3-0C48-5456A7A15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9AFC6-870D-FD93-7955-E870686FE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AC537-D707-C589-C7E1-302F7D440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8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3C84-8B59-5D99-266A-5822AD85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D2C1-4032-45D6-C0F8-ED4839BEA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22107-7B06-3DFD-F582-523F3F3D3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10A2-C969-4EA6-A6A1-9BEF311E5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1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223C-FFB5-F14C-00E1-C43177D3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E9629-AB0F-0B06-E3A8-53390EC87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43045-6684-F7AA-3888-D89FEFAA5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2E257-4A7A-415C-BAE8-B60034CB5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23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0225-C055-23A8-7A26-F371D246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6A1A1-7121-BBE2-8F23-E2591CF46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305FF-B3BB-C161-3624-752058720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BA98-A113-1CCA-51EB-13BD9343C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0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E223-B5A3-2BB6-A984-3201192F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480E-D208-84EA-9C64-800D4378F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022ED-D3F9-271B-7C3C-E3C13ED93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9C5AB-74D5-3E83-B5A8-2805A9172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097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DBEC-2B62-A83E-6405-8CDFE803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C2556-8CF3-5415-5670-BE09857AC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E1621-5424-6905-806F-699AD068C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DDC30-B77A-ACE5-2240-1B3E1AE43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019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A734E-81D0-A060-492A-1C075F0E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F6BA8-EECC-DBEA-0AF2-356AF3505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B2EAD-6CD2-E969-3721-5C5C15676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7E9DA-D6E9-2C23-183A-878E9C989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3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5D79-2F73-AC45-19DD-A0BDF662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C6CBB-1E74-D964-960F-CDF0562D8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A4228-3E6C-FDFB-3BF9-597B49557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D45DB-142E-AD77-C18C-3C5C60EBB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585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620D-34BF-AAAE-2E5F-0CE700087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E2B17-C546-7254-029A-1C25DA22E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DC699-14E3-77BF-EEB4-0C52393E3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15922-5980-9624-15F9-9B0A96A61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27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B3F4E-A0FC-364E-4576-6E5FBE69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28852-8F40-276B-653F-15405F14A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5B44B-10EA-E5CF-CE7B-2CB36100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DA419-0A6E-E396-2381-348703CA3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45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302D-D605-E7F7-52F9-4050AA32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16193-54F3-7970-0E1C-E40EC2F52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D4CEF-2C8A-9AD9-987E-22B41ABED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8F1D-A81D-BC3C-161A-13E17816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651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4DE3-FB31-B1DD-C2F5-A447BE53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1975C-9E73-15AF-4E1B-883793C60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BAE59-D0A2-D0B6-CFA9-4C6A35285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A044A-16BD-7AD8-C720-FE3D7D009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94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EF4D-1172-F10C-BDAB-963EA36B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B3616-2A9A-DB79-0147-42E1D0F06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65B33-6265-D08E-1C32-6D4C830A5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9BD39-DAB3-EF81-9209-6B62852A3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120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1CBE9-7F7C-5CA6-7F37-7DD3B217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1FC9-CE83-B684-1936-7AA02D68A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19DD6-79EC-CD71-1665-6F2B610A7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B8BC6-0034-677E-03CD-F0ACF7389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71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BAA8-2E9F-DC5E-FDC2-ED7FBE34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DDD4A-633D-4F16-A62E-98C3A2A09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F0FD4-4F4A-ADE9-B152-18475F04B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31F5C-755D-E87B-04A6-2221A6F54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18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43B-17A7-6589-A90F-1C44E354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6ACF6-3184-6B07-1A7C-47908FF5C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A0BF6-212D-5ED2-B8F4-5054AB252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37BF-7EC5-3706-8FDE-DA0C8C105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75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EDD-1796-8E9D-61C5-9BB3C110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EC2BA-DBD3-59E5-698D-1E6D5E4EB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D6D97-061B-6DE4-DC77-B050054F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E92CF-3A73-2722-319B-936AC9D8D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997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27F8-E44E-A35A-C67C-375DD004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FE9C6-5743-C89C-810E-DAE89ECBA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9D3A6-6EA5-9DDF-0521-615D74FB8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1DFD0-9F6A-8ADC-D299-020AC0D9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40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AFB0-AAE1-9B52-F2C4-819CEC03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EDAA9-02AE-8022-1B09-8F8C6DB5A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3FC76-A22C-7BAA-0C25-E23F8D0B1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A0FF4-A8F9-3D1E-96B4-CC33E5B2D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401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75D2-FB0E-F7D0-830B-F7A65DE4C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E42F7-30EE-C220-54D7-20C704B3F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89CA9-6DD6-6E89-3ADE-C8B90FEF3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7E320-54D4-FFCE-A6A2-B13A28D61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67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8E7B-3736-E21E-8AB1-A0422169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D85E6-6144-AAA8-6075-5EBA60264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E39B1-40B4-41CF-29F1-BB5A88F77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884C-87D0-4EDB-4BEE-F5A87FBA8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32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F645-601E-2FA6-4166-2E3D8491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57098-B44B-23C6-337F-95DADD4FC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565BA-E096-F286-01BF-6A722BAB3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1FDB4-674D-790F-83E0-2446035D5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99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CDEA-9E6F-E068-A113-5C93542E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21D2F-DD31-3E90-334C-7A6180B2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B874C-3600-ADB2-4137-42D032F47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E8B6-49AB-169A-17A9-1E53D476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68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7D6A-2346-E96F-6533-106D5848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52F9-4990-2F06-BF70-32EDD1A74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21FDB-1BAE-580A-1FAE-2D1911AF3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EC309-00DE-3787-BA47-93352CADB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14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CDEA-9E6F-E068-A113-5C93542E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21D2F-DD31-3E90-334C-7A6180B2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B874C-3600-ADB2-4137-42D032F47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E8B6-49AB-169A-17A9-1E53D476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68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7D6A-2346-E96F-6533-106D5848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52F9-4990-2F06-BF70-32EDD1A74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21FDB-1BAE-580A-1FAE-2D1911AF3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EC309-00DE-3787-BA47-93352CADB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14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1624-C711-FADA-FF44-CE9A792A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B1CD4-8BD2-8259-9485-B0C5CD141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0734F-B48A-B1AB-132F-B3204E7E6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6EE4A-5796-C78D-32C3-284C7BE00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877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CDEA-9E6F-E068-A113-5C93542E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21D2F-DD31-3E90-334C-7A6180B2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B874C-3600-ADB2-4137-42D032F47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E8B6-49AB-169A-17A9-1E53D476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685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E57E-6BD4-C27D-4C7B-CA5FF10C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3BC90-3670-35FF-1A3C-B2F692225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003AB-D94C-78C6-9A79-B6F5EB740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F8287-FA1D-8FC6-D9BB-825DB4C69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338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147E7-816C-7B55-BC75-B5B47987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12DBF-3207-CEC7-4D54-E0FA83806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1D1FF-796B-C65D-49AD-FEF705DF7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C5BD-E826-B066-81B7-2A54CE83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26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A87D-62F2-AF47-39E9-B35F2E6C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1534C-178F-D90A-00D2-57B783DD2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A8F1B-C9C7-6511-45F0-4A7E75CF9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DF74A-77A7-C9B2-21B1-98BD909F3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3390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5317-8D67-CCB9-5957-238BBF81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F3FB3-5203-0E0D-0B06-636C03469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B5827-2AC4-7B17-28E7-A45EA749F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E1800-4A4B-A225-13A0-2D69975E2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594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BEE9-E9D9-9B5B-AB15-9D874B29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AE851-791A-647C-3B63-367D3D208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30F4B-078A-C9FC-0A16-CC8392EA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439BA-51DC-5535-CE5D-9FE2D64F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4011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CBEE9-8E1F-C1ED-4C25-C822FD07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7237F-BEBE-2E80-E68D-E2B57476E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C3405-A30E-E7F4-2C76-A86432CB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DCC21-1A45-245A-115A-9EDCA5D39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375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2384-B84C-1928-2D76-B8A9F699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7304A-787D-4167-CFAF-03DCB02C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34ED3-11C2-9D1E-B26F-BEED5AA8E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16715-E57A-CE1C-10AB-2A9088AC0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715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1F35-0DA5-D0DD-6494-86E22080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F7FED-2FD5-810F-4F42-C2A7C20CB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08BA1-F9B0-C81D-A7AF-F4E995BA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7D661-B42E-B011-115B-4A03502F9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5866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01BB-525B-2787-5CD7-6CC45531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2B37C-1B57-4D41-9E18-A1FB9D47A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5DE3C-47E1-7CEA-A49B-176DA658B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04EF2-EBAB-126E-0AB0-CCF3E72A3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4901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F7EDE-9874-0AC0-0CA6-EC2BCC2D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F1F2D-11CC-7ABD-0915-A0F012F6A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F0F80-9AB1-6B07-DC95-88B019ED4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64E25-8EC5-2216-F852-7BBE58925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397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655A-215E-6A1B-F885-6662683E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308AE-835B-440C-15E0-CECE76099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F8D32-ED25-7878-ECEA-BD233EDB5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4298-3D8C-0371-ED80-C6CFAC9CB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6304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81F4-EC7C-80B5-AD17-F50C49B0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F3D68-79E4-168E-1C3D-2A7C1EC6D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46BA-965F-7192-897F-22AE1FE13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BF38E-C789-C530-FB4B-E7472F8C6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33742-356C-411F-A646-51C881971766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66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6E2E-0E14-EC4C-70A8-D1D30FF84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8253B-DC74-1B33-FAF9-FF7FA9BE1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22CBF-13D2-29FE-DA14-4E77604B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6F925-B17B-FF3C-DD5D-145EBE32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E5FE-BE88-678D-A11A-0C246B1A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0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2351-8F13-5D87-5299-682F7708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64ED-8620-A8B8-6A17-FCEE1658F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6FDB2-B942-97CF-384B-34F15F18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9890E-B0DE-4BC5-B3BC-99EB9430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34370-2C17-521D-6540-928C6AF4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2023-2D74-3B21-A211-97381D21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F572B-1725-1199-20F9-56FEE131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06170-576D-DFCE-4200-BD6B1D8F6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D1FC-779C-3C65-9239-48A762FA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A5C9F-3E01-FDDB-E775-AEDA4FCF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06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AE58-4B72-DCF6-A470-7F6F37A0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8863-78F6-79F8-3E90-44E33C8AB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5EE9C-B848-9C54-3103-1B7CDD6CF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FFA72-FC3B-3285-71BB-DCA58069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37C4-EB1F-D305-6D1D-79E45504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D62E-BB67-B88B-3948-B9E2124F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3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0296-A39D-0F55-6ADA-68C24C05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14F58-F197-4329-ACEC-49E9F6761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DA765-6FB5-3181-620B-64A80D200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20654-9FFB-A0ED-A360-93ABA67C8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C93B3-F6A3-01C8-A3FF-E648EEF76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23A0A-15F1-C5BD-FB71-2B402C67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60FAE-58FE-1AE1-306E-7131F9BD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8D239-D1FF-5732-76F7-3AAACCD3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9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2940-8B38-2949-E71E-F1058026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86AD7-9400-1681-4AE9-8BE2F25E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08D67-5545-A693-B0A8-617D6271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86063-750E-D350-A896-5355FD56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61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27C4B-FA06-674D-A389-D87C4343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04810F-C612-743F-1781-48D7BAE1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5D5FC-9D04-CBCD-5F1D-D5E42FC4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20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B67D-8318-268D-4710-E70AEE2A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1AA56-81CA-97C8-618E-712ADF4DC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DE87D-D7D9-C0A3-7198-F37EC87C9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C9A4-D24B-23F3-C6FB-3FB5CC56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B6A7B-12CF-45B7-C4B8-383CD3BE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5D05-4836-4E97-F67F-07487539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9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C27E-BB42-6E0A-E82F-8CEE6245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D1DE50-5F3B-94C1-CBC6-E97F8B348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78B10-4AC0-1245-D213-6FBB3F56C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CA57C-14FB-F563-202E-96510F9A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68290-7A54-0A78-3F16-A86CB0B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7EF0C-4AC7-6CBA-D072-C1E2A5B6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7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477-1235-BAFD-27E0-E6FFB076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442B7-862B-1A3B-8493-BF36A559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0F8A1-C9D7-8424-D3F4-5AC54DBC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4A721-C12B-B984-BAA2-0787124F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506F6-3A72-ED02-823A-719FE3C1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0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2C6BE3-8F33-E370-652D-3AADAA347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A670F-0B06-3628-3EDB-9D9AEC10B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893FC-A174-E74C-24FD-2526A300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CF48-BD54-8090-B685-DD31E3F2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E1B4E-3A62-F0BF-D1A9-E49112BD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D5D12-1634-0E9E-A258-A0E0A755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7264-9445-8468-2E1A-58CD1E498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001E-510A-A47C-27F3-F66A3BAC0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4AE69-C3C4-434C-91AE-7872933B52E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60DB-C53B-6363-B5EA-576E94EA2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7C0BA-0154-5481-CB68-7AA1A4BCD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CD0D6-35D3-439C-A8B9-A6840EBA07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38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8DFBF0F-2B55-5677-673A-1B8496642180}"/>
              </a:ext>
            </a:extLst>
          </p:cNvPr>
          <p:cNvSpPr/>
          <p:nvPr/>
        </p:nvSpPr>
        <p:spPr>
          <a:xfrm>
            <a:off x="1588" y="6492240"/>
            <a:ext cx="12188952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9806CE-5DB5-0640-4590-D0FEACCAC68A}"/>
              </a:ext>
            </a:extLst>
          </p:cNvPr>
          <p:cNvSpPr/>
          <p:nvPr/>
        </p:nvSpPr>
        <p:spPr>
          <a:xfrm>
            <a:off x="1588" y="6492240"/>
            <a:ext cx="1828800" cy="3657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1480909" y="1011898"/>
            <a:ext cx="846879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M. Tech. Thesis</a:t>
            </a:r>
          </a:p>
          <a:p>
            <a:pPr algn="ctr">
              <a:defRPr sz="2800" b="1"/>
            </a:pP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defRPr sz="2800" b="1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Device Analysis and Simulation of Vertical Schottky Barrier Diode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6940" y="2165997"/>
            <a:ext cx="100584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4733207" y="6521231"/>
            <a:ext cx="23450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lang="en-IN" sz="1400" dirty="0"/>
              <a:t>Presented by – </a:t>
            </a:r>
            <a:r>
              <a:rPr lang="en-IN" sz="1400" dirty="0" err="1"/>
              <a:t>Nipun</a:t>
            </a:r>
            <a:r>
              <a:rPr lang="en-IN" sz="1400" dirty="0"/>
              <a:t> Sharma</a:t>
            </a:r>
            <a:endParaRPr sz="1400" dirty="0"/>
          </a:p>
        </p:txBody>
      </p:sp>
      <p:pic>
        <p:nvPicPr>
          <p:cNvPr id="1026" name="Picture 2" descr="IIT Hyderabad - Wikipedia">
            <a:extLst>
              <a:ext uri="{FF2B5EF4-FFF2-40B4-BE49-F238E27FC236}">
                <a16:creationId xmlns:a16="http://schemas.microsoft.com/office/drawing/2014/main" id="{69498282-3924-EB46-28DD-1F50C990B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24" y="2657776"/>
            <a:ext cx="2426631" cy="265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D7AB6A-94F3-F577-F0F3-42F54545E83B}"/>
              </a:ext>
            </a:extLst>
          </p:cNvPr>
          <p:cNvSpPr/>
          <p:nvPr/>
        </p:nvSpPr>
        <p:spPr>
          <a:xfrm>
            <a:off x="1588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48028-0C42-2F4E-6C49-5B44903565DF}"/>
              </a:ext>
            </a:extLst>
          </p:cNvPr>
          <p:cNvSpPr/>
          <p:nvPr/>
        </p:nvSpPr>
        <p:spPr>
          <a:xfrm>
            <a:off x="10361740" y="0"/>
            <a:ext cx="1828800" cy="6400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EA2E-3144-4FB5-A620-DFCF342D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7815C1-CE6F-02F2-3EEB-F747624ED1B8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095B2-C808-C6DE-447B-64A0DE84E8E4}"/>
                  </a:ext>
                </a:extLst>
              </p:cNvPr>
              <p:cNvSpPr txBox="1"/>
              <p:nvPr/>
            </p:nvSpPr>
            <p:spPr>
              <a:xfrm>
                <a:off x="116455" y="851444"/>
                <a:ext cx="7273537" cy="469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Schottky Barrier Height : q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IN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IN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IN" sz="20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 eV</a:t>
                </a:r>
              </a:p>
              <a:p>
                <a:pPr algn="just" hangingPunct="0"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Simulate the Forward &amp; Reverse I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characteristics of the diode. Extract cut-in voltage &amp; Reverse Saturation Current.</a:t>
                </a:r>
              </a:p>
              <a:p>
                <a:pPr algn="just" hangingPunct="0"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Simulate the C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characteristics of the diode &amp; extract built – in potential.</a:t>
                </a:r>
              </a:p>
              <a:p>
                <a:pPr algn="just" hangingPunct="0">
                  <a:lnSpc>
                    <a:spcPct val="15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(iii) Plot Energy Band Diagram for:</a:t>
                </a:r>
              </a:p>
              <a:p>
                <a:pPr marL="800100" lvl="1" indent="-342900" algn="just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0.1 V</a:t>
                </a:r>
              </a:p>
              <a:p>
                <a:pPr marL="800100" lvl="1" indent="-342900" algn="just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0.2 V</a:t>
                </a:r>
              </a:p>
              <a:p>
                <a:pPr marL="800100" lvl="1" indent="-342900" algn="just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0.3 V</a:t>
                </a:r>
              </a:p>
              <a:p>
                <a:pPr marL="800100" lvl="1" indent="-342900" algn="just" hangingPunct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IN" sz="2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0.4 V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4095B2-C808-C6DE-447B-64A0DE84E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5" y="851444"/>
                <a:ext cx="7273537" cy="4695581"/>
              </a:xfrm>
              <a:prstGeom prst="rect">
                <a:avLst/>
              </a:prstGeom>
              <a:blipFill>
                <a:blip r:embed="rId3"/>
                <a:stretch>
                  <a:fillRect l="-838" r="-922" b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A74C96F-BA63-2437-8CF3-E37DC6D868F0}"/>
              </a:ext>
            </a:extLst>
          </p:cNvPr>
          <p:cNvSpPr txBox="1"/>
          <p:nvPr/>
        </p:nvSpPr>
        <p:spPr>
          <a:xfrm>
            <a:off x="121815" y="58430"/>
            <a:ext cx="66796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Vertical Schottky Diode Simulation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9A5C1-E3DB-6BDC-6C71-58AEF9F58DFD}"/>
              </a:ext>
            </a:extLst>
          </p:cNvPr>
          <p:cNvSpPr/>
          <p:nvPr/>
        </p:nvSpPr>
        <p:spPr>
          <a:xfrm>
            <a:off x="8505757" y="2102831"/>
            <a:ext cx="2202251" cy="34962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EB01-2DF3-1719-8BDE-4FB2351C01EB}"/>
              </a:ext>
            </a:extLst>
          </p:cNvPr>
          <p:cNvSpPr/>
          <p:nvPr/>
        </p:nvSpPr>
        <p:spPr>
          <a:xfrm>
            <a:off x="8505757" y="1914572"/>
            <a:ext cx="2202251" cy="18825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91ECF-C7C2-7F09-704C-0DC92F53319A}"/>
              </a:ext>
            </a:extLst>
          </p:cNvPr>
          <p:cNvSpPr/>
          <p:nvPr/>
        </p:nvSpPr>
        <p:spPr>
          <a:xfrm>
            <a:off x="8505757" y="5565906"/>
            <a:ext cx="2202251" cy="18825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E201C8-A6D6-FDE9-1B0C-BF34F540D359}"/>
              </a:ext>
            </a:extLst>
          </p:cNvPr>
          <p:cNvCxnSpPr>
            <a:cxnSpLocks/>
          </p:cNvCxnSpPr>
          <p:nvPr/>
        </p:nvCxnSpPr>
        <p:spPr>
          <a:xfrm>
            <a:off x="8505757" y="2356965"/>
            <a:ext cx="220225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D73B4D-50D5-134F-5A1D-CEF034D772DB}"/>
                  </a:ext>
                </a:extLst>
              </p:cNvPr>
              <p:cNvSpPr txBox="1"/>
              <p:nvPr/>
            </p:nvSpPr>
            <p:spPr>
              <a:xfrm>
                <a:off x="8899809" y="2126133"/>
                <a:ext cx="1409700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 hangingPunct="0"/>
                <a:r>
                  <a:rPr lang="en-IN" sz="2400" b="1" kern="100" dirty="0">
                    <a:cs typeface="Times New Roman" panose="02020603050405020304" pitchFamily="18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IN" sz="2400" b="1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IN" sz="2400" b="1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endParaRPr lang="en-IN" sz="2400" b="1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D73B4D-50D5-134F-5A1D-CEF034D7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809" y="2126133"/>
                <a:ext cx="1409700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974FE1-5D71-CB92-411E-4FD3703104EA}"/>
              </a:ext>
            </a:extLst>
          </p:cNvPr>
          <p:cNvCxnSpPr>
            <a:endCxn id="10" idx="0"/>
          </p:cNvCxnSpPr>
          <p:nvPr/>
        </p:nvCxnSpPr>
        <p:spPr>
          <a:xfrm>
            <a:off x="9606882" y="1428685"/>
            <a:ext cx="1" cy="485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D3CAEE-DCE5-05DB-B830-C79260105A02}"/>
              </a:ext>
            </a:extLst>
          </p:cNvPr>
          <p:cNvCxnSpPr/>
          <p:nvPr/>
        </p:nvCxnSpPr>
        <p:spPr>
          <a:xfrm>
            <a:off x="9606882" y="5753702"/>
            <a:ext cx="1" cy="4858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F5C3B4D-C323-2664-001D-13D1DCEF786B}"/>
              </a:ext>
            </a:extLst>
          </p:cNvPr>
          <p:cNvSpPr/>
          <p:nvPr/>
        </p:nvSpPr>
        <p:spPr>
          <a:xfrm>
            <a:off x="9545922" y="1289067"/>
            <a:ext cx="117475" cy="140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8A186C-8E50-346E-E9B8-3144ED24D33B}"/>
              </a:ext>
            </a:extLst>
          </p:cNvPr>
          <p:cNvSpPr/>
          <p:nvPr/>
        </p:nvSpPr>
        <p:spPr>
          <a:xfrm>
            <a:off x="9545922" y="6125227"/>
            <a:ext cx="117475" cy="140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827FDD-B6C4-8427-2E77-D39ED1E7E201}"/>
                  </a:ext>
                </a:extLst>
              </p:cNvPr>
              <p:cNvSpPr txBox="1"/>
              <p:nvPr/>
            </p:nvSpPr>
            <p:spPr>
              <a:xfrm>
                <a:off x="8573718" y="3130438"/>
                <a:ext cx="2061881" cy="8309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IN" sz="2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en-IN" sz="2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𝑺𝒊</m:t>
                      </m:r>
                    </m:oMath>
                  </m:oMathPara>
                </a14:m>
                <a:endParaRPr lang="en-IN" sz="2400" b="1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 hangingPunct="0"/>
                <a:r>
                  <a:rPr lang="en-IN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400" b="1" kern="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N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IN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</a:t>
                </a:r>
                <a:r>
                  <a:rPr lang="en-IN" sz="2400" b="1" kern="1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 </a:t>
                </a:r>
                <a:r>
                  <a:rPr lang="en-IN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</a:t>
                </a:r>
                <a:r>
                  <a:rPr lang="en-IN" sz="2400" b="1" kern="1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</a:t>
                </a:r>
                <a:endParaRPr lang="en-IN" sz="2400" b="1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827FDD-B6C4-8427-2E77-D39ED1E7E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18" y="3130438"/>
                <a:ext cx="2061881" cy="830997"/>
              </a:xfrm>
              <a:prstGeom prst="rect">
                <a:avLst/>
              </a:prstGeom>
              <a:blipFill>
                <a:blip r:embed="rId6"/>
                <a:stretch>
                  <a:fillRect l="-4130" r="-885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CB9847-F9AF-FE45-5D74-AB685FD2F05B}"/>
              </a:ext>
            </a:extLst>
          </p:cNvPr>
          <p:cNvCxnSpPr>
            <a:cxnSpLocks/>
          </p:cNvCxnSpPr>
          <p:nvPr/>
        </p:nvCxnSpPr>
        <p:spPr>
          <a:xfrm>
            <a:off x="7976839" y="1914572"/>
            <a:ext cx="0" cy="387275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5B316F-E93C-3597-E248-7E7698D1619B}"/>
                  </a:ext>
                </a:extLst>
              </p:cNvPr>
              <p:cNvSpPr txBox="1"/>
              <p:nvPr/>
            </p:nvSpPr>
            <p:spPr>
              <a:xfrm>
                <a:off x="7336764" y="3194292"/>
                <a:ext cx="109658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 hangingPunct="0"/>
                <a:r>
                  <a:rPr lang="en-IN" sz="2400" b="1" kern="100" dirty="0"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IN" sz="2400" b="1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IN" sz="2400" b="1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endParaRPr lang="en-IN" sz="2400" b="1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5B316F-E93C-3597-E248-7E7698D16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764" y="3194292"/>
                <a:ext cx="1096584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16F960-9B21-5582-4C82-26BEDAA194DF}"/>
              </a:ext>
            </a:extLst>
          </p:cNvPr>
          <p:cNvCxnSpPr>
            <a:cxnSpLocks/>
          </p:cNvCxnSpPr>
          <p:nvPr/>
        </p:nvCxnSpPr>
        <p:spPr>
          <a:xfrm flipV="1">
            <a:off x="10445719" y="1428685"/>
            <a:ext cx="681706" cy="4858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8B49B0-F892-30D1-EE3B-2D7562701266}"/>
              </a:ext>
            </a:extLst>
          </p:cNvPr>
          <p:cNvSpPr txBox="1"/>
          <p:nvPr/>
        </p:nvSpPr>
        <p:spPr>
          <a:xfrm>
            <a:off x="10812207" y="662667"/>
            <a:ext cx="1481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/>
            <a:r>
              <a:rPr lang="en-IN" sz="2400" kern="100" dirty="0">
                <a:cs typeface="Times New Roman" panose="02020603050405020304" pitchFamily="18" charset="0"/>
              </a:rPr>
              <a:t>Schottky Junction</a:t>
            </a:r>
            <a:endParaRPr lang="en-I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5ADAF-8CFC-0D5A-0AFE-4A814A0567F2}"/>
              </a:ext>
            </a:extLst>
          </p:cNvPr>
          <p:cNvSpPr txBox="1"/>
          <p:nvPr/>
        </p:nvSpPr>
        <p:spPr>
          <a:xfrm>
            <a:off x="6975824" y="645306"/>
            <a:ext cx="148139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hangingPunct="0"/>
            <a:r>
              <a:rPr lang="en-IN" sz="2400" kern="100" dirty="0">
                <a:cs typeface="Times New Roman" panose="02020603050405020304" pitchFamily="18" charset="0"/>
              </a:rPr>
              <a:t>Generic Metal</a:t>
            </a:r>
            <a:endParaRPr lang="en-I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067CE0-E298-D3FD-B4E4-A60F6F2DC8C5}"/>
              </a:ext>
            </a:extLst>
          </p:cNvPr>
          <p:cNvCxnSpPr>
            <a:cxnSpLocks/>
          </p:cNvCxnSpPr>
          <p:nvPr/>
        </p:nvCxnSpPr>
        <p:spPr>
          <a:xfrm flipH="1" flipV="1">
            <a:off x="8209196" y="1326814"/>
            <a:ext cx="1132028" cy="587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54103D-2967-2FE3-C0BF-077C693175D3}"/>
              </a:ext>
            </a:extLst>
          </p:cNvPr>
          <p:cNvCxnSpPr>
            <a:cxnSpLocks/>
          </p:cNvCxnSpPr>
          <p:nvPr/>
        </p:nvCxnSpPr>
        <p:spPr>
          <a:xfrm flipH="1">
            <a:off x="7976839" y="5772164"/>
            <a:ext cx="960757" cy="467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CB9CB26-AA7E-1A6B-75E6-82AA4B8231DE}"/>
              </a:ext>
            </a:extLst>
          </p:cNvPr>
          <p:cNvSpPr txBox="1"/>
          <p:nvPr/>
        </p:nvSpPr>
        <p:spPr>
          <a:xfrm>
            <a:off x="6685580" y="5983528"/>
            <a:ext cx="1481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/>
            <a:r>
              <a:rPr lang="en-IN" sz="2400" kern="100" dirty="0">
                <a:cs typeface="Times New Roman" panose="02020603050405020304" pitchFamily="18" charset="0"/>
              </a:rPr>
              <a:t>Ohmic Contact</a:t>
            </a:r>
            <a:endParaRPr lang="en-I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E5A41-E346-F379-23A5-E0FEC559936D}"/>
              </a:ext>
            </a:extLst>
          </p:cNvPr>
          <p:cNvSpPr/>
          <p:nvPr/>
        </p:nvSpPr>
        <p:spPr>
          <a:xfrm>
            <a:off x="9608341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433B41-50C4-FD9E-6CAB-961AFB39B8BB}"/>
              </a:ext>
            </a:extLst>
          </p:cNvPr>
          <p:cNvSpPr txBox="1"/>
          <p:nvPr/>
        </p:nvSpPr>
        <p:spPr>
          <a:xfrm>
            <a:off x="9448800" y="6524677"/>
            <a:ext cx="2672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                    16 – March – 2026</a:t>
            </a:r>
          </a:p>
        </p:txBody>
      </p:sp>
    </p:spTree>
    <p:extLst>
      <p:ext uri="{BB962C8B-B14F-4D97-AF65-F5344CB8AC3E}">
        <p14:creationId xmlns:p14="http://schemas.microsoft.com/office/powerpoint/2010/main" val="285001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D3A4-68CC-258C-D230-05E0A814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9FA66-0358-3EB1-2F2D-D73F4DACC835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21EE8-19FF-F99F-AB7A-4B5D17025D94}"/>
              </a:ext>
            </a:extLst>
          </p:cNvPr>
          <p:cNvSpPr txBox="1"/>
          <p:nvPr/>
        </p:nvSpPr>
        <p:spPr>
          <a:xfrm>
            <a:off x="121815" y="58430"/>
            <a:ext cx="67388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Vertical Schottky Diode Numerical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AD9C85-A6BD-E364-AC3E-795514C90568}"/>
                  </a:ext>
                </a:extLst>
              </p:cNvPr>
              <p:cNvSpPr txBox="1"/>
              <p:nvPr/>
            </p:nvSpPr>
            <p:spPr>
              <a:xfrm>
                <a:off x="7927848" y="672517"/>
                <a:ext cx="4192434" cy="272382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Width = 1 </a:t>
                </a:r>
                <a14:m>
                  <m:oMath xmlns:m="http://schemas.openxmlformats.org/officeDocument/2006/math">
                    <m:r>
                      <a:rPr lang="en-IN" sz="19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1900" dirty="0"/>
                  <a:t>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Length = 2 </a:t>
                </a:r>
                <a14:m>
                  <m:oMath xmlns:m="http://schemas.openxmlformats.org/officeDocument/2006/math">
                    <m:r>
                      <a:rPr lang="en-IN" sz="19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1900" dirty="0"/>
                  <a:t>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Doping Concentration(N</a:t>
                </a:r>
                <a:r>
                  <a:rPr lang="en-IN" sz="1900" baseline="-25000" dirty="0"/>
                  <a:t>D</a:t>
                </a:r>
                <a:r>
                  <a:rPr lang="en-IN" sz="1900" dirty="0"/>
                  <a:t>) = 10</a:t>
                </a:r>
                <a:r>
                  <a:rPr lang="en-IN" sz="1900" baseline="30000" dirty="0"/>
                  <a:t>16 </a:t>
                </a:r>
                <a:r>
                  <a:rPr lang="en-IN" sz="1900" dirty="0"/>
                  <a:t>cm</a:t>
                </a:r>
                <a:r>
                  <a:rPr lang="en-IN" sz="1900" baseline="30000" dirty="0"/>
                  <a:t>-3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Max </a:t>
                </a:r>
                <a:r>
                  <a:rPr lang="en-IN" sz="1900" dirty="0" err="1"/>
                  <a:t>Length</a:t>
                </a:r>
                <a:r>
                  <a:rPr lang="en-IN" sz="1900" baseline="-25000" dirty="0" err="1"/>
                  <a:t>Global</a:t>
                </a:r>
                <a:r>
                  <a:rPr lang="en-IN" sz="1900" baseline="-25000" dirty="0"/>
                  <a:t> Meshing </a:t>
                </a:r>
                <a:r>
                  <a:rPr lang="en-IN" sz="1900" dirty="0"/>
                  <a:t>= 40 nm </a:t>
                </a:r>
                <a:r>
                  <a:rPr lang="en-IN" sz="1900" baseline="-25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Min </a:t>
                </a:r>
                <a:r>
                  <a:rPr lang="en-IN" sz="1900" dirty="0" err="1"/>
                  <a:t>Length</a:t>
                </a:r>
                <a:r>
                  <a:rPr lang="en-IN" sz="1900" baseline="-25000" dirty="0" err="1"/>
                  <a:t>Global</a:t>
                </a:r>
                <a:r>
                  <a:rPr lang="en-IN" sz="1900" baseline="-25000" dirty="0"/>
                  <a:t> Meshing </a:t>
                </a:r>
                <a:r>
                  <a:rPr lang="en-IN" sz="1900" dirty="0"/>
                  <a:t>= 10 nm</a:t>
                </a:r>
                <a:endParaRPr lang="en-IN" sz="1900" baseline="-25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Max </a:t>
                </a:r>
                <a:r>
                  <a:rPr lang="en-IN" sz="1900" dirty="0" err="1"/>
                  <a:t>Length</a:t>
                </a:r>
                <a:r>
                  <a:rPr lang="en-IN" sz="1900" baseline="-25000" dirty="0" err="1"/>
                  <a:t>Interface</a:t>
                </a:r>
                <a:r>
                  <a:rPr lang="en-IN" sz="1900" baseline="-25000" dirty="0"/>
                  <a:t> </a:t>
                </a:r>
                <a:r>
                  <a:rPr lang="en-IN" sz="1900" dirty="0"/>
                  <a:t>= 10 nm</a:t>
                </a:r>
                <a:endParaRPr lang="en-IN" sz="1900" baseline="-25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Min </a:t>
                </a:r>
                <a:r>
                  <a:rPr lang="en-IN" sz="1900" dirty="0" err="1"/>
                  <a:t>Length</a:t>
                </a:r>
                <a:r>
                  <a:rPr lang="en-IN" sz="1900" baseline="-25000" dirty="0" err="1"/>
                  <a:t>Interface</a:t>
                </a:r>
                <a:r>
                  <a:rPr lang="en-IN" sz="1900" baseline="-25000" dirty="0"/>
                  <a:t> </a:t>
                </a:r>
                <a:r>
                  <a:rPr lang="en-IN" sz="1900" dirty="0"/>
                  <a:t>= 2 nm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Mesh Elements = 12318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900" dirty="0"/>
                  <a:t>Mesh Points = 6227</a:t>
                </a:r>
                <a:endParaRPr lang="en-IN" sz="1900" baseline="-25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AD9C85-A6BD-E364-AC3E-795514C90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848" y="672517"/>
                <a:ext cx="4192434" cy="2723823"/>
              </a:xfrm>
              <a:prstGeom prst="rect">
                <a:avLst/>
              </a:prstGeom>
              <a:blipFill>
                <a:blip r:embed="rId3"/>
                <a:stretch>
                  <a:fillRect l="-1014" t="-889" b="-244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ED9711F-A55B-1B9A-4EE6-FD55A88B9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1" y="678565"/>
            <a:ext cx="7794528" cy="61359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996C24-A920-01A6-2DE2-CD648FDF4C7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FC6BC-E060-AF72-E4B6-E8B075F3DEDD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2                    16 – March - 2026</a:t>
            </a:r>
          </a:p>
        </p:txBody>
      </p:sp>
    </p:spTree>
    <p:extLst>
      <p:ext uri="{BB962C8B-B14F-4D97-AF65-F5344CB8AC3E}">
        <p14:creationId xmlns:p14="http://schemas.microsoft.com/office/powerpoint/2010/main" val="157430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CD0B-E4C9-E5A5-0F4D-7FCC15FE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DDFF0F-BD4A-BE0F-9A3C-4AE73B48B811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A262E-35D3-AD18-03D0-E050B407849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CEAA-4828-E630-37E1-12DD128CE456}"/>
              </a:ext>
            </a:extLst>
          </p:cNvPr>
          <p:cNvSpPr txBox="1"/>
          <p:nvPr/>
        </p:nvSpPr>
        <p:spPr>
          <a:xfrm>
            <a:off x="121815" y="58430"/>
            <a:ext cx="88807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Vertical Schottky Diode I – V Characteristics (Forward Bias)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1633D-7B01-FE9F-0AD2-F41461BD30DA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881FA-E4B2-0BB8-781A-71E8EFC093FA}"/>
              </a:ext>
            </a:extLst>
          </p:cNvPr>
          <p:cNvSpPr txBox="1"/>
          <p:nvPr/>
        </p:nvSpPr>
        <p:spPr>
          <a:xfrm>
            <a:off x="9536623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                   16 – March - 2026</a:t>
            </a:r>
          </a:p>
        </p:txBody>
      </p:sp>
      <p:graphicFrame>
        <p:nvGraphicFramePr>
          <p:cNvPr id="5" name="Object 4" descr="Project Path: C:\Users\NIPUN\Documents\OriginLab\User Files\Tuning Parameters\schottkyfwdrv.opju&#10;PE Folder: /schottkyfwdrv/Folder1/&#10;Short Name: Graph2">
            <a:extLst>
              <a:ext uri="{FF2B5EF4-FFF2-40B4-BE49-F238E27FC236}">
                <a16:creationId xmlns:a16="http://schemas.microsoft.com/office/drawing/2014/main" id="{D9152D04-AA3C-442F-D852-2E24886F5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020" y="252792"/>
          <a:ext cx="9438701" cy="6695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schottkyfwdrv.opju&#10;PE Folder: /schottkyfwdrv/Folder1/&#10;Short Name: Graph2">
                        <a:extLst>
                          <a:ext uri="{FF2B5EF4-FFF2-40B4-BE49-F238E27FC236}">
                            <a16:creationId xmlns:a16="http://schemas.microsoft.com/office/drawing/2014/main" id="{D9152D04-AA3C-442F-D852-2E24886F50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020" y="252792"/>
                        <a:ext cx="9438701" cy="6695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458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FA36-6064-2F95-FAEE-7E495D487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A45373-28E8-4AEB-3053-1744E9B7673F}"/>
              </a:ext>
            </a:extLst>
          </p:cNvPr>
          <p:cNvSpPr/>
          <p:nvPr/>
        </p:nvSpPr>
        <p:spPr>
          <a:xfrm>
            <a:off x="0" y="-1"/>
            <a:ext cx="12188952" cy="887221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7C576-EB4B-7526-9DBA-E140E2C07990}"/>
                  </a:ext>
                </a:extLst>
              </p:cNvPr>
              <p:cNvSpPr txBox="1"/>
              <p:nvPr/>
            </p:nvSpPr>
            <p:spPr>
              <a:xfrm>
                <a:off x="121815" y="58430"/>
                <a:ext cx="6817572" cy="77899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800" b="1">
                    <a:solidFill>
                      <a:srgbClr val="FFFFFF"/>
                    </a:solidFill>
                  </a:defRPr>
                </a:pPr>
                <a:r>
                  <a:rPr lang="en-IN" sz="2800" dirty="0"/>
                  <a:t>Cut – in Voltage extraction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2800" dirty="0"/>
                  <a:t> Method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27C576-EB4B-7526-9DBA-E140E2C07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15" y="58430"/>
                <a:ext cx="6817572" cy="778996"/>
              </a:xfrm>
              <a:prstGeom prst="rect">
                <a:avLst/>
              </a:prstGeom>
              <a:blipFill>
                <a:blip r:embed="rId3"/>
                <a:stretch>
                  <a:fillRect l="-1878" r="-805" b="-11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481056A-FB6A-CC89-1E88-4B87E3043F56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79208-4AA8-1704-820F-490BB0B862C9}"/>
              </a:ext>
            </a:extLst>
          </p:cNvPr>
          <p:cNvSpPr txBox="1"/>
          <p:nvPr/>
        </p:nvSpPr>
        <p:spPr>
          <a:xfrm>
            <a:off x="9511555" y="6524677"/>
            <a:ext cx="2653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4                    16 – March - 2026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83B44-4FAF-0FE2-7D58-9E521778D9CA}"/>
                  </a:ext>
                </a:extLst>
              </p:cNvPr>
              <p:cNvSpPr txBox="1"/>
              <p:nvPr/>
            </p:nvSpPr>
            <p:spPr>
              <a:xfrm>
                <a:off x="9793811" y="994797"/>
                <a:ext cx="2209800" cy="70788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Cut-in Voltage V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000" dirty="0"/>
                  <a:t>0.170  V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83B44-4FAF-0FE2-7D58-9E521778D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811" y="994797"/>
                <a:ext cx="2209800" cy="707886"/>
              </a:xfrm>
              <a:prstGeom prst="rect">
                <a:avLst/>
              </a:prstGeom>
              <a:blipFill>
                <a:blip r:embed="rId4"/>
                <a:stretch>
                  <a:fillRect l="-2192" t="-3361" b="-1260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 descr="Project Path: C:\Users\NIPUN\Documents\OriginLab\User Files\Tuning Parameters\schottkyfwdrv.opju&#10;PE Folder: /schottkyfwdrv/Folder1/&#10;Short Name: Graph1">
            <a:extLst>
              <a:ext uri="{FF2B5EF4-FFF2-40B4-BE49-F238E27FC236}">
                <a16:creationId xmlns:a16="http://schemas.microsoft.com/office/drawing/2014/main" id="{9F3EEC33-E431-9B6B-CA03-AC93500DD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099" y="139267"/>
          <a:ext cx="10055464" cy="7133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schottkyfwdrv.opju&#10;PE Folder: /schottkyfwdrv/Folder1/&#10;Short Name: Graph1">
                        <a:extLst>
                          <a:ext uri="{FF2B5EF4-FFF2-40B4-BE49-F238E27FC236}">
                            <a16:creationId xmlns:a16="http://schemas.microsoft.com/office/drawing/2014/main" id="{9F3EEC33-E431-9B6B-CA03-AC93500D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99" y="139267"/>
                        <a:ext cx="10055464" cy="7133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349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FDFE-2BC8-4CA8-3254-13E63765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06CA81-5F25-D6A8-33C4-E8D6C6E06555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DECB0-E06B-48D8-CC48-704A767C5550}"/>
              </a:ext>
            </a:extLst>
          </p:cNvPr>
          <p:cNvSpPr txBox="1"/>
          <p:nvPr/>
        </p:nvSpPr>
        <p:spPr>
          <a:xfrm>
            <a:off x="121815" y="58430"/>
            <a:ext cx="8810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Vertical Schottky Diode I – V Characteristics (Reverse Bias)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1360EC-6F97-E82C-6293-A859E66F73FF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926DA-B580-4F62-8070-30F662E29526}"/>
              </a:ext>
            </a:extLst>
          </p:cNvPr>
          <p:cNvSpPr txBox="1"/>
          <p:nvPr/>
        </p:nvSpPr>
        <p:spPr>
          <a:xfrm>
            <a:off x="9481611" y="6521231"/>
            <a:ext cx="2707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5                    16 – March - 2026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ABD02-874C-AB56-6CC4-7C7494E26DF5}"/>
              </a:ext>
            </a:extLst>
          </p:cNvPr>
          <p:cNvSpPr txBox="1"/>
          <p:nvPr/>
        </p:nvSpPr>
        <p:spPr>
          <a:xfrm>
            <a:off x="8964708" y="869740"/>
            <a:ext cx="3191435" cy="6771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Reverse Saturation Current </a:t>
            </a:r>
          </a:p>
          <a:p>
            <a:r>
              <a:rPr lang="en-IN" sz="1900" dirty="0"/>
              <a:t>      |J| = 8.141 x 10 </a:t>
            </a:r>
            <a:r>
              <a:rPr lang="en-IN" sz="1900" baseline="30000" dirty="0"/>
              <a:t>-6 </a:t>
            </a:r>
            <a:r>
              <a:rPr lang="en-IN" sz="1900" dirty="0"/>
              <a:t>A/cm</a:t>
            </a:r>
            <a:r>
              <a:rPr lang="en-IN" sz="1900" baseline="30000" dirty="0"/>
              <a:t>2</a:t>
            </a:r>
            <a:r>
              <a:rPr lang="en-IN" sz="1900" dirty="0"/>
              <a:t> </a:t>
            </a:r>
            <a:endParaRPr lang="en-IN" sz="1900" baseline="30000" dirty="0"/>
          </a:p>
        </p:txBody>
      </p:sp>
      <p:graphicFrame>
        <p:nvGraphicFramePr>
          <p:cNvPr id="2" name="Object 1" descr="Project Path: C:\Users\NIPUN\Documents\OriginLab\User Files\Tuning Parameters\schottkyfwdrv.opju&#10;PE Folder: /schottkyfwdrv/Folder1/&#10;Short Name: Graph4">
            <a:extLst>
              <a:ext uri="{FF2B5EF4-FFF2-40B4-BE49-F238E27FC236}">
                <a16:creationId xmlns:a16="http://schemas.microsoft.com/office/drawing/2014/main" id="{54A48D91-D029-C78A-3579-1E923236F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24" y="430204"/>
          <a:ext cx="9060868" cy="6427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schottkyfwdrv.opju&#10;PE Folder: /schottkyfwdrv/Folder1/&#10;Short Name: Graph4">
                        <a:extLst>
                          <a:ext uri="{FF2B5EF4-FFF2-40B4-BE49-F238E27FC236}">
                            <a16:creationId xmlns:a16="http://schemas.microsoft.com/office/drawing/2014/main" id="{54A48D91-D029-C78A-3579-1E923236F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24" y="430204"/>
                        <a:ext cx="9060868" cy="6427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20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1662-BAF0-240B-B9CC-D5B06AB6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CDA178-63F4-7480-7640-4C73C75AD9FB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D40263-B75E-3C29-F3E8-9510DA3B783A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6AAAE-6DF6-DEB3-D8FE-01B342A93CDC}"/>
              </a:ext>
            </a:extLst>
          </p:cNvPr>
          <p:cNvSpPr txBox="1"/>
          <p:nvPr/>
        </p:nvSpPr>
        <p:spPr>
          <a:xfrm>
            <a:off x="121815" y="58430"/>
            <a:ext cx="6720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Schottky Barrier Diode C – V Characteristics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1B0A08-A0FE-54E9-F6FF-7B9871AE02E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6791D-73FC-4C7D-B097-8E7E709F31B1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6                  16 – March - 2026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17C1FF-35E1-6798-EE8D-54053B7841C1}"/>
              </a:ext>
            </a:extLst>
          </p:cNvPr>
          <p:cNvSpPr txBox="1"/>
          <p:nvPr/>
        </p:nvSpPr>
        <p:spPr>
          <a:xfrm>
            <a:off x="9606882" y="743786"/>
            <a:ext cx="2513400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Built-in Potential </a:t>
            </a:r>
          </a:p>
          <a:p>
            <a:r>
              <a:rPr lang="en-IN" sz="2000" dirty="0"/>
              <a:t>       </a:t>
            </a:r>
            <a:r>
              <a:rPr lang="en-IN" sz="2000" dirty="0" err="1"/>
              <a:t>V</a:t>
            </a:r>
            <a:r>
              <a:rPr lang="en-IN" sz="2000" baseline="-25000" dirty="0" err="1"/>
              <a:t>bi</a:t>
            </a:r>
            <a:r>
              <a:rPr lang="en-IN" sz="2000" dirty="0"/>
              <a:t> = 0.457 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Frequency = 1MHZ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Interval = 500</a:t>
            </a:r>
          </a:p>
        </p:txBody>
      </p:sp>
      <p:graphicFrame>
        <p:nvGraphicFramePr>
          <p:cNvPr id="6" name="Object 5" descr="Project Path: &#10;PE Folder: /UNTITLED/Folder1/&#10;Short Name: Graph1">
            <a:extLst>
              <a:ext uri="{FF2B5EF4-FFF2-40B4-BE49-F238E27FC236}">
                <a16:creationId xmlns:a16="http://schemas.microsoft.com/office/drawing/2014/main" id="{07E5C996-2AAA-593F-D4A0-3E8421093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707" y="137160"/>
          <a:ext cx="9667301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6" name="Object 5" descr="Project Path: &#10;PE Folder: /UNTITLED/Folder1/&#10;Short Name: Graph1">
                        <a:extLst>
                          <a:ext uri="{FF2B5EF4-FFF2-40B4-BE49-F238E27FC236}">
                            <a16:creationId xmlns:a16="http://schemas.microsoft.com/office/drawing/2014/main" id="{07E5C996-2AAA-593F-D4A0-3E8421093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707" y="137160"/>
                        <a:ext cx="9667301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326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1436-663B-C1BC-D1B7-B1BAF466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D9C18C-EEB4-A2CB-D168-431EE7080EFF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56CFC-A115-0472-5626-40A7229EDC1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B02F4-EC61-E9AE-4C7D-FCEBEBF48692}"/>
              </a:ext>
            </a:extLst>
          </p:cNvPr>
          <p:cNvSpPr txBox="1"/>
          <p:nvPr/>
        </p:nvSpPr>
        <p:spPr>
          <a:xfrm>
            <a:off x="121815" y="58430"/>
            <a:ext cx="85139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Vertical Silicon Schottky Diode Characteristic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BC4002-D7EA-D634-F42B-05035E83C8B2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BBF14-CC11-1C08-E819-DB88FFDB6E85}"/>
              </a:ext>
            </a:extLst>
          </p:cNvPr>
          <p:cNvSpPr txBox="1"/>
          <p:nvPr/>
        </p:nvSpPr>
        <p:spPr>
          <a:xfrm>
            <a:off x="9444060" y="6524677"/>
            <a:ext cx="2721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7                    16 – March - 2026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CFFDD4-0DBF-D1C3-A44F-3D61F106217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08606" y="1119575"/>
              <a:ext cx="4654794" cy="27586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8297">
                      <a:extLst>
                        <a:ext uri="{9D8B030D-6E8A-4147-A177-3AD203B41FA5}">
                          <a16:colId xmlns:a16="http://schemas.microsoft.com/office/drawing/2014/main" val="2860956499"/>
                        </a:ext>
                      </a:extLst>
                    </a:gridCol>
                    <a:gridCol w="1046497">
                      <a:extLst>
                        <a:ext uri="{9D8B030D-6E8A-4147-A177-3AD203B41FA5}">
                          <a16:colId xmlns:a16="http://schemas.microsoft.com/office/drawing/2014/main" val="4148520499"/>
                        </a:ext>
                      </a:extLst>
                    </a:gridCol>
                  </a:tblGrid>
                  <a:tr h="4597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Values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2913494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Cut – in Voltage (</a:t>
                          </a:r>
                          <a:r>
                            <a:rPr lang="en-IN" sz="1800" dirty="0"/>
                            <a:t>V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0.170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3287284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Built – in Potential (</a:t>
                          </a:r>
                          <a:r>
                            <a:rPr lang="en-IN" dirty="0" err="1"/>
                            <a:t>V</a:t>
                          </a:r>
                          <a:r>
                            <a:rPr lang="en-IN" baseline="-25000" dirty="0" err="1"/>
                            <a:t>bi</a:t>
                          </a:r>
                          <a:r>
                            <a:rPr lang="en-IN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0.457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290470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Schottky Barrier Height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dirty="0"/>
                            <a:t>) </a:t>
                          </a:r>
                          <a:r>
                            <a:rPr lang="en-IN" b="1" dirty="0">
                              <a:solidFill>
                                <a:srgbClr val="00B050"/>
                              </a:solidFill>
                            </a:rPr>
                            <a:t>(given)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0.7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0790118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Depletion Width (W)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257 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3332597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Debye Length (L</a:t>
                          </a:r>
                          <a:r>
                            <a:rPr lang="en-IN" baseline="-25000" dirty="0"/>
                            <a:t>D</a:t>
                          </a:r>
                          <a:r>
                            <a:rPr lang="en-IN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12.9 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2262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CFFDD4-0DBF-D1C3-A44F-3D61F10621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099399"/>
                  </p:ext>
                </p:extLst>
              </p:nvPr>
            </p:nvGraphicFramePr>
            <p:xfrm>
              <a:off x="7308606" y="1119575"/>
              <a:ext cx="4654794" cy="27586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8297">
                      <a:extLst>
                        <a:ext uri="{9D8B030D-6E8A-4147-A177-3AD203B41FA5}">
                          <a16:colId xmlns:a16="http://schemas.microsoft.com/office/drawing/2014/main" val="2860956499"/>
                        </a:ext>
                      </a:extLst>
                    </a:gridCol>
                    <a:gridCol w="1046497">
                      <a:extLst>
                        <a:ext uri="{9D8B030D-6E8A-4147-A177-3AD203B41FA5}">
                          <a16:colId xmlns:a16="http://schemas.microsoft.com/office/drawing/2014/main" val="4148520499"/>
                        </a:ext>
                      </a:extLst>
                    </a:gridCol>
                  </a:tblGrid>
                  <a:tr h="4597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Values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2913494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9" t="-108000" r="-2968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0.170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3287284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Built – in Potential (</a:t>
                          </a:r>
                          <a:r>
                            <a:rPr lang="en-IN" dirty="0" err="1"/>
                            <a:t>V</a:t>
                          </a:r>
                          <a:r>
                            <a:rPr lang="en-IN" baseline="-25000" dirty="0" err="1"/>
                            <a:t>bi</a:t>
                          </a:r>
                          <a:r>
                            <a:rPr lang="en-IN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0.457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290470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9" t="-305263" r="-29680" b="-2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0.7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0790118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Depletion Width (W)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257 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3332597"/>
                      </a:ext>
                    </a:extLst>
                  </a:tr>
                  <a:tr h="45977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Debye Length (L</a:t>
                          </a:r>
                          <a:r>
                            <a:rPr lang="en-IN" baseline="-25000" dirty="0"/>
                            <a:t>D</a:t>
                          </a:r>
                          <a:r>
                            <a:rPr lang="en-IN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12.9 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2262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4AD29D-C899-BD38-DD2C-C499262D3C2B}"/>
                  </a:ext>
                </a:extLst>
              </p:cNvPr>
              <p:cNvSpPr txBox="1"/>
              <p:nvPr/>
            </p:nvSpPr>
            <p:spPr>
              <a:xfrm>
                <a:off x="349620" y="581650"/>
                <a:ext cx="6391836" cy="4266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400" dirty="0"/>
                  <a:t>Debye Length (L</a:t>
                </a:r>
                <a:r>
                  <a:rPr lang="en-IN" sz="2400" baseline="-25000" dirty="0"/>
                  <a:t>D</a:t>
                </a:r>
                <a:r>
                  <a:rPr lang="en-IN" sz="2400" dirty="0"/>
                  <a:t>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IN" sz="2400" dirty="0"/>
                  <a:t> --------------- (3)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/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baseline="-2500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400" dirty="0"/>
                  <a:t> ------------------------------ (4)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/>
                  <a:t>V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baseline="-25000" smtClean="0">
                        <a:latin typeface="Cambria Math" panose="02040503050406030204" pitchFamily="18" charset="0"/>
                      </a:rPr>
                      <m:t>bi</m:t>
                    </m:r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400" dirty="0"/>
                  <a:t> -------------------------------- (5)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/>
                  <a:t>W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𝑏𝑖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IN" sz="2400" dirty="0"/>
                  <a:t>---------------------------------- (6)</a:t>
                </a:r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𝐾𝑇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unc>
                      <m:func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IN" sz="2400" dirty="0"/>
                  <a:t> ----------------------------- (7)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4AD29D-C899-BD38-DD2C-C499262D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0" y="581650"/>
                <a:ext cx="6391836" cy="4266553"/>
              </a:xfrm>
              <a:prstGeom prst="rect">
                <a:avLst/>
              </a:prstGeom>
              <a:blipFill>
                <a:blip r:embed="rId4"/>
                <a:stretch>
                  <a:fillRect l="-14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2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FC0F-4BB8-1828-D1C7-C547D558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C8B90-3D9A-A5B4-130C-F122098F1F23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36E0EB-9FC9-DC31-F1F5-09043FC90B9A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C664C-DB0F-5F40-FBC7-8E33214721FD}"/>
              </a:ext>
            </a:extLst>
          </p:cNvPr>
          <p:cNvSpPr txBox="1"/>
          <p:nvPr/>
        </p:nvSpPr>
        <p:spPr>
          <a:xfrm>
            <a:off x="121815" y="58430"/>
            <a:ext cx="42073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y-cut 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6FF98C-570C-DDEE-373A-734BC9A27608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9F549-137C-2BAD-6E7F-618A7A209BAD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8                  16 – March - 2026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1FD62-109A-9151-98FB-B1034D77F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36" y="681576"/>
            <a:ext cx="4889991" cy="614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2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7232-4562-F859-5D89-251F7DC5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18E05D-FB97-BD24-FB08-096A5494775A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41042-278A-F575-B7F2-6D930426D019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0F8AA4-A243-670C-7B41-6CA594431A7D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9D090-53B8-8E3F-F713-05572B755A0F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 9                 16 – March - 2026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76E70-B635-16DC-14A3-32C6425A145F}"/>
              </a:ext>
            </a:extLst>
          </p:cNvPr>
          <p:cNvSpPr txBox="1"/>
          <p:nvPr/>
        </p:nvSpPr>
        <p:spPr>
          <a:xfrm>
            <a:off x="10390096" y="777549"/>
            <a:ext cx="160468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V</a:t>
            </a:r>
            <a:r>
              <a:rPr lang="en-IN" sz="2000" b="1" baseline="-25000" dirty="0" err="1"/>
              <a:t>anode</a:t>
            </a:r>
            <a:r>
              <a:rPr lang="en-IN" sz="2000" b="1" dirty="0"/>
              <a:t> = 0.1 V</a:t>
            </a:r>
          </a:p>
        </p:txBody>
      </p:sp>
      <p:graphicFrame>
        <p:nvGraphicFramePr>
          <p:cNvPr id="2" name="Object 1" descr="Project Path: &#10;PE Folder: /UNTITLED/Folder1/&#10;Short Name: Graph1">
            <a:extLst>
              <a:ext uri="{FF2B5EF4-FFF2-40B4-BE49-F238E27FC236}">
                <a16:creationId xmlns:a16="http://schemas.microsoft.com/office/drawing/2014/main" id="{6FDA3048-C3F8-4143-4396-7AC3C31B5F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3225" y="1081697"/>
          <a:ext cx="5989692" cy="436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&#10;PE Folder: /UNTITLED/Folder1/&#10;Short Name: Graph1">
                        <a:extLst>
                          <a:ext uri="{FF2B5EF4-FFF2-40B4-BE49-F238E27FC236}">
                            <a16:creationId xmlns:a16="http://schemas.microsoft.com/office/drawing/2014/main" id="{6FDA3048-C3F8-4143-4396-7AC3C31B5F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93225" y="1081697"/>
                        <a:ext cx="5989692" cy="43678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Project Path: &#10;PE Folder: /UNTITLED/Folder1/&#10;Short Name: Graph2">
            <a:extLst>
              <a:ext uri="{FF2B5EF4-FFF2-40B4-BE49-F238E27FC236}">
                <a16:creationId xmlns:a16="http://schemas.microsoft.com/office/drawing/2014/main" id="{FFF504BE-0B16-696F-9156-6598EF790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96" y="1111624"/>
          <a:ext cx="6108178" cy="4333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10" name="Object 9" descr="Project Path: &#10;PE Folder: /UNTITLED/Folder1/&#10;Short Name: Graph2">
                        <a:extLst>
                          <a:ext uri="{FF2B5EF4-FFF2-40B4-BE49-F238E27FC236}">
                            <a16:creationId xmlns:a16="http://schemas.microsoft.com/office/drawing/2014/main" id="{FFF504BE-0B16-696F-9156-6598EF790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896" y="1111624"/>
                        <a:ext cx="6108178" cy="4333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77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B376-01A0-A221-CFCF-CE3C10B0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CCA834-FCEE-C983-9F7A-787943A1A7D7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51890-9B0B-D110-20CB-D53871C4D5F4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0A064-91AE-D395-39FA-3D301A0AF80F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AD8CA-FF54-74D0-67E6-FE69BEA19559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D523E-E3D6-007B-B040-E073B7EF14DF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10               16 – March - 2026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722B3-C684-FB80-4577-359272524CFF}"/>
              </a:ext>
            </a:extLst>
          </p:cNvPr>
          <p:cNvSpPr txBox="1"/>
          <p:nvPr/>
        </p:nvSpPr>
        <p:spPr>
          <a:xfrm>
            <a:off x="10390096" y="777549"/>
            <a:ext cx="160468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V</a:t>
            </a:r>
            <a:r>
              <a:rPr lang="en-IN" sz="2000" b="1" baseline="-25000" dirty="0" err="1"/>
              <a:t>anode</a:t>
            </a:r>
            <a:r>
              <a:rPr lang="en-IN" sz="2000" b="1" dirty="0"/>
              <a:t> = 0.2 V</a:t>
            </a:r>
          </a:p>
        </p:txBody>
      </p:sp>
      <p:graphicFrame>
        <p:nvGraphicFramePr>
          <p:cNvPr id="11" name="Object 10" descr="Project Path: C:\Users\NIPUN\Documents\OriginLab\User Files\Tuning Parameters\schottkyenergy_new.opju&#10;PE Folder: /schottkyenergy_new/Folder1/&#10;Short Name: Graph3">
            <a:extLst>
              <a:ext uri="{FF2B5EF4-FFF2-40B4-BE49-F238E27FC236}">
                <a16:creationId xmlns:a16="http://schemas.microsoft.com/office/drawing/2014/main" id="{EE176872-DDA8-BF88-BE24-DACDFD1C7E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6193" y="1315128"/>
          <a:ext cx="6108655" cy="433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1" name="Object 10" descr="Project Path: C:\Users\NIPUN\Documents\OriginLab\User Files\Tuning Parameters\schottkyenergy_new.opju&#10;PE Folder: /schottkyenergy_new/Folder1/&#10;Short Name: Graph3">
                        <a:extLst>
                          <a:ext uri="{FF2B5EF4-FFF2-40B4-BE49-F238E27FC236}">
                            <a16:creationId xmlns:a16="http://schemas.microsoft.com/office/drawing/2014/main" id="{EE176872-DDA8-BF88-BE24-DACDFD1C7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6193" y="1315128"/>
                        <a:ext cx="6108655" cy="4333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 descr="Project Path: C:\Users\NIPUN\Documents\OriginLab\User Files\Tuning Parameters\schottkyenergy_new.opju&#10;PE Folder: /schottkyenergy_new/Folder1/&#10;Short Name: Graph4">
            <a:extLst>
              <a:ext uri="{FF2B5EF4-FFF2-40B4-BE49-F238E27FC236}">
                <a16:creationId xmlns:a16="http://schemas.microsoft.com/office/drawing/2014/main" id="{EDCEF93C-9677-CB1B-DDDE-51523E1550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20" y="1318790"/>
          <a:ext cx="6108656" cy="433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12" name="Object 11" descr="Project Path: C:\Users\NIPUN\Documents\OriginLab\User Files\Tuning Parameters\schottkyenergy_new.opju&#10;PE Folder: /schottkyenergy_new/Folder1/&#10;Short Name: Graph4">
                        <a:extLst>
                          <a:ext uri="{FF2B5EF4-FFF2-40B4-BE49-F238E27FC236}">
                            <a16:creationId xmlns:a16="http://schemas.microsoft.com/office/drawing/2014/main" id="{EDCEF93C-9677-CB1B-DDDE-51523E1550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920" y="1318790"/>
                        <a:ext cx="6108656" cy="4333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285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F7D8-240F-6E86-1F31-D710B479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51481C-7BBB-1184-476F-4BD4FA9872DD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17D51-C80A-911C-2319-9F49497A3DBA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359B3-C8C7-EF55-5CD4-3EF84949BEF3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07177-E681-259B-BF00-8AB00D9FFD95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50532-B19D-D895-D95C-68E141DDC96A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11            	16 – March - 2026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F71A7-DB39-9C93-D901-B756FFCA9D3D}"/>
              </a:ext>
            </a:extLst>
          </p:cNvPr>
          <p:cNvSpPr txBox="1"/>
          <p:nvPr/>
        </p:nvSpPr>
        <p:spPr>
          <a:xfrm>
            <a:off x="10390096" y="777549"/>
            <a:ext cx="160468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V</a:t>
            </a:r>
            <a:r>
              <a:rPr lang="en-IN" sz="2000" b="1" baseline="-25000" dirty="0" err="1"/>
              <a:t>anode</a:t>
            </a:r>
            <a:r>
              <a:rPr lang="en-IN" sz="2000" b="1" dirty="0"/>
              <a:t> = 0.3 V</a:t>
            </a:r>
          </a:p>
        </p:txBody>
      </p:sp>
      <p:graphicFrame>
        <p:nvGraphicFramePr>
          <p:cNvPr id="7" name="Object 6" descr="Project Path: C:\Users\NIPUN\Documents\OriginLab\User Files\Tuning Parameters\schottkyenergy_new.opju&#10;PE Folder: /schottkyenergy_new/Folder1/&#10;Short Name: Graph6">
            <a:extLst>
              <a:ext uri="{FF2B5EF4-FFF2-40B4-BE49-F238E27FC236}">
                <a16:creationId xmlns:a16="http://schemas.microsoft.com/office/drawing/2014/main" id="{843B55B3-CCEA-8ACF-8D58-FAAEF0E6C3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955" y="1234945"/>
          <a:ext cx="6185647" cy="4388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7" name="Object 6" descr="Project Path: C:\Users\NIPUN\Documents\OriginLab\User Files\Tuning Parameters\schottkyenergy_new.opju&#10;PE Folder: /schottkyenergy_new/Folder1/&#10;Short Name: Graph6">
                        <a:extLst>
                          <a:ext uri="{FF2B5EF4-FFF2-40B4-BE49-F238E27FC236}">
                            <a16:creationId xmlns:a16="http://schemas.microsoft.com/office/drawing/2014/main" id="{843B55B3-CCEA-8ACF-8D58-FAAEF0E6C3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955" y="1234945"/>
                        <a:ext cx="6185647" cy="4388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 descr="Project Path: C:\Users\NIPUN\Documents\OriginLab\User Files\Tuning Parameters\schottkyenergy_new.opju&#10;PE Folder: /schottkyenergy_new/Folder1/&#10;Short Name: Graph5">
            <a:extLst>
              <a:ext uri="{FF2B5EF4-FFF2-40B4-BE49-F238E27FC236}">
                <a16:creationId xmlns:a16="http://schemas.microsoft.com/office/drawing/2014/main" id="{9C3E4167-CB35-725F-D32D-1C47237B8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9862" y="1234945"/>
          <a:ext cx="6081475" cy="4314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12" name="Object 11" descr="Project Path: C:\Users\NIPUN\Documents\OriginLab\User Files\Tuning Parameters\schottkyenergy_new.opju&#10;PE Folder: /schottkyenergy_new/Folder1/&#10;Short Name: Graph5">
                        <a:extLst>
                          <a:ext uri="{FF2B5EF4-FFF2-40B4-BE49-F238E27FC236}">
                            <a16:creationId xmlns:a16="http://schemas.microsoft.com/office/drawing/2014/main" id="{9C3E4167-CB35-725F-D32D-1C47237B8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39862" y="1234945"/>
                        <a:ext cx="6081475" cy="4314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6222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2EF8-0302-FADC-E103-54761978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635074-AEB2-062C-7B5A-0FE6DDE91DB7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95AD1-20D1-1639-99C0-04511FF2822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E56F-97C4-B151-756C-5F9FCF96A7DD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D1FFD-5284-F40E-E7EF-E9F3B5BD7F50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4E203-B25A-367B-93FA-DB29C2440A0D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12                16 – March - 2026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43EF9-9BCB-03FF-63FF-69B9B6B5938F}"/>
              </a:ext>
            </a:extLst>
          </p:cNvPr>
          <p:cNvSpPr txBox="1"/>
          <p:nvPr/>
        </p:nvSpPr>
        <p:spPr>
          <a:xfrm>
            <a:off x="10390096" y="777549"/>
            <a:ext cx="160468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V</a:t>
            </a:r>
            <a:r>
              <a:rPr lang="en-IN" sz="2000" b="1" baseline="-25000" dirty="0" err="1"/>
              <a:t>anode</a:t>
            </a:r>
            <a:r>
              <a:rPr lang="en-IN" sz="2000" b="1" dirty="0"/>
              <a:t> = 0.4 V</a:t>
            </a:r>
          </a:p>
        </p:txBody>
      </p:sp>
      <p:graphicFrame>
        <p:nvGraphicFramePr>
          <p:cNvPr id="11" name="Object 10" descr="Project Path: C:\Users\NIPUN\Documents\OriginLab\User Files\Tuning Parameters\schottkyenergy_new.opju&#10;PE Folder: /schottkyenergy_new/Folder1/&#10;Short Name: Graph7">
            <a:extLst>
              <a:ext uri="{FF2B5EF4-FFF2-40B4-BE49-F238E27FC236}">
                <a16:creationId xmlns:a16="http://schemas.microsoft.com/office/drawing/2014/main" id="{756BC817-5A1E-F7F9-D806-5D77CCD31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5670" y="1315128"/>
          <a:ext cx="6413113" cy="4549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1" name="Object 10" descr="Project Path: C:\Users\NIPUN\Documents\OriginLab\User Files\Tuning Parameters\schottkyenergy_new.opju&#10;PE Folder: /schottkyenergy_new/Folder1/&#10;Short Name: Graph7">
                        <a:extLst>
                          <a:ext uri="{FF2B5EF4-FFF2-40B4-BE49-F238E27FC236}">
                            <a16:creationId xmlns:a16="http://schemas.microsoft.com/office/drawing/2014/main" id="{756BC817-5A1E-F7F9-D806-5D77CCD31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25670" y="1315128"/>
                        <a:ext cx="6413113" cy="45494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 descr="Project Path: C:\Users\NIPUN\Documents\OriginLab\User Files\Tuning Parameters\schottkyenergy_new.opju&#10;PE Folder: /schottkyenergy_new/Folder1/&#10;Short Name: Graph8">
            <a:extLst>
              <a:ext uri="{FF2B5EF4-FFF2-40B4-BE49-F238E27FC236}">
                <a16:creationId xmlns:a16="http://schemas.microsoft.com/office/drawing/2014/main" id="{889863E3-AA85-50E6-59B6-0ED813C33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30" y="1427607"/>
          <a:ext cx="6096000" cy="432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12" name="Object 11" descr="Project Path: C:\Users\NIPUN\Documents\OriginLab\User Files\Tuning Parameters\schottkyenergy_new.opju&#10;PE Folder: /schottkyenergy_new/Folder1/&#10;Short Name: Graph8">
                        <a:extLst>
                          <a:ext uri="{FF2B5EF4-FFF2-40B4-BE49-F238E27FC236}">
                            <a16:creationId xmlns:a16="http://schemas.microsoft.com/office/drawing/2014/main" id="{889863E3-AA85-50E6-59B6-0ED813C33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30" y="1427607"/>
                        <a:ext cx="6096000" cy="432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69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D694-A0B9-C54D-4EAA-027B6169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A020DA-0BE4-6EB0-8CD4-43C472FF8DC9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5DE11-2A15-D72D-A086-08C2D088B44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8C68D-CC02-4A5F-AC37-AC2F2207551D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9794C-F12E-4676-A27B-92730B585483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47745-614C-4CA8-8B45-4C6CEFA4BD02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13                16 – March - 2026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50300-5BA3-DE22-955B-8364A90ED883}"/>
              </a:ext>
            </a:extLst>
          </p:cNvPr>
          <p:cNvSpPr txBox="1"/>
          <p:nvPr/>
        </p:nvSpPr>
        <p:spPr>
          <a:xfrm>
            <a:off x="10104423" y="941010"/>
            <a:ext cx="1858977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V</a:t>
            </a:r>
            <a:r>
              <a:rPr lang="en-IN" sz="2000" baseline="-25000" dirty="0" err="1"/>
              <a:t>anode</a:t>
            </a:r>
            <a:r>
              <a:rPr lang="en-IN" sz="2000" dirty="0"/>
              <a:t> = 0.4 V</a:t>
            </a:r>
          </a:p>
        </p:txBody>
      </p:sp>
      <p:graphicFrame>
        <p:nvGraphicFramePr>
          <p:cNvPr id="7" name="Object 6" descr="Project Path: C:\Users\NIPUN\Documents\OriginLab\User Files\Tuning Parameters\schottkyenergy_new.opju&#10;PE Folder: /schottkyenergy_new/Folder1/&#10;Short Name: Graph7">
            <a:extLst>
              <a:ext uri="{FF2B5EF4-FFF2-40B4-BE49-F238E27FC236}">
                <a16:creationId xmlns:a16="http://schemas.microsoft.com/office/drawing/2014/main" id="{AE29D3BD-3B60-C67C-D308-2A13A485DA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5294" y="1429023"/>
          <a:ext cx="5979459" cy="424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7" name="Object 6" descr="Project Path: C:\Users\NIPUN\Documents\OriginLab\User Files\Tuning Parameters\schottkyenergy_new.opju&#10;PE Folder: /schottkyenergy_new/Folder1/&#10;Short Name: Graph7">
                        <a:extLst>
                          <a:ext uri="{FF2B5EF4-FFF2-40B4-BE49-F238E27FC236}">
                            <a16:creationId xmlns:a16="http://schemas.microsoft.com/office/drawing/2014/main" id="{AE29D3BD-3B60-C67C-D308-2A13A485D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5294" y="1429023"/>
                        <a:ext cx="5979459" cy="424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Project Path: C:\Users\NIPUN\Documents\OriginLab\User Files\Tuning Parameters\schottkyenergy_new.opju&#10;PE Folder: /schottkyenergy_new/Folder1/&#10;Short Name: Graph8">
            <a:extLst>
              <a:ext uri="{FF2B5EF4-FFF2-40B4-BE49-F238E27FC236}">
                <a16:creationId xmlns:a16="http://schemas.microsoft.com/office/drawing/2014/main" id="{2F6E5144-D490-F3F3-E251-07260F3D1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353511"/>
          <a:ext cx="6275294" cy="4451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10" name="Object 9" descr="Project Path: C:\Users\NIPUN\Documents\OriginLab\User Files\Tuning Parameters\schottkyenergy_new.opju&#10;PE Folder: /schottkyenergy_new/Folder1/&#10;Short Name: Graph8">
                        <a:extLst>
                          <a:ext uri="{FF2B5EF4-FFF2-40B4-BE49-F238E27FC236}">
                            <a16:creationId xmlns:a16="http://schemas.microsoft.com/office/drawing/2014/main" id="{2F6E5144-D490-F3F3-E251-07260F3D16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353511"/>
                        <a:ext cx="6275294" cy="4451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4874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1BD5-B709-6616-8551-7F17690F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53749D80-1854-9A7C-957F-382EC2599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455" y="3764283"/>
            <a:ext cx="4627421" cy="30681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E78338-0ACB-B775-FFE1-AA9F5D301868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4D7E7-9CC4-240A-0B8A-120E42DE52FC}"/>
              </a:ext>
            </a:extLst>
          </p:cNvPr>
          <p:cNvSpPr txBox="1"/>
          <p:nvPr/>
        </p:nvSpPr>
        <p:spPr>
          <a:xfrm>
            <a:off x="121815" y="58430"/>
            <a:ext cx="67816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Variation of e</a:t>
            </a:r>
            <a:r>
              <a:rPr lang="en-IN" sz="2800" baseline="30000" dirty="0"/>
              <a:t>-</a:t>
            </a:r>
            <a:r>
              <a:rPr lang="en-IN" sz="2800" dirty="0"/>
              <a:t> Mobility </a:t>
            </a:r>
            <a:r>
              <a:rPr lang="en-IN" sz="2800" dirty="0" err="1"/>
              <a:t>w.r.t.</a:t>
            </a:r>
            <a:r>
              <a:rPr lang="en-IN" sz="2800" dirty="0"/>
              <a:t> Anode Voltage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35BCE-9916-A91F-6530-5726E01A85D5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DA37D-1F82-BBAA-D93C-6C9D789AD947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14             	16 – March - 2026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15A864-0BB9-0112-1215-55A2932E3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" r="3114" b="3333"/>
          <a:stretch>
            <a:fillRect/>
          </a:stretch>
        </p:blipFill>
        <p:spPr>
          <a:xfrm>
            <a:off x="181084" y="675940"/>
            <a:ext cx="4710161" cy="301504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B9777D2-7824-63F7-FC3E-107A5436B2A2}"/>
              </a:ext>
            </a:extLst>
          </p:cNvPr>
          <p:cNvSpPr txBox="1"/>
          <p:nvPr/>
        </p:nvSpPr>
        <p:spPr>
          <a:xfrm>
            <a:off x="849257" y="905401"/>
            <a:ext cx="1006438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V</a:t>
            </a:r>
            <a:r>
              <a:rPr lang="en-IN" sz="1200" b="1" baseline="-25000" dirty="0" err="1"/>
              <a:t>anode</a:t>
            </a:r>
            <a:r>
              <a:rPr lang="en-IN" sz="1200" b="1" dirty="0"/>
              <a:t> = 0.1 V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CA79D8-8553-A687-603B-99C7AB52A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87" y="660879"/>
            <a:ext cx="4642623" cy="309282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2D313B0-C18F-9FD4-A4F5-E2E1FF8304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2" y="3753701"/>
            <a:ext cx="4906325" cy="306817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C579C54-CAF7-9FFE-86DE-600895930FC3}"/>
              </a:ext>
            </a:extLst>
          </p:cNvPr>
          <p:cNvSpPr txBox="1"/>
          <p:nvPr/>
        </p:nvSpPr>
        <p:spPr>
          <a:xfrm>
            <a:off x="5818335" y="905400"/>
            <a:ext cx="1006438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V</a:t>
            </a:r>
            <a:r>
              <a:rPr lang="en-IN" sz="1200" b="1" baseline="-25000" dirty="0" err="1"/>
              <a:t>anode</a:t>
            </a:r>
            <a:r>
              <a:rPr lang="en-IN" sz="1200" b="1" dirty="0"/>
              <a:t> = 0.2 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2C2853-619E-D3FA-3BC5-67BF55693E2E}"/>
              </a:ext>
            </a:extLst>
          </p:cNvPr>
          <p:cNvSpPr txBox="1"/>
          <p:nvPr/>
        </p:nvSpPr>
        <p:spPr>
          <a:xfrm>
            <a:off x="849257" y="4005754"/>
            <a:ext cx="1006438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V</a:t>
            </a:r>
            <a:r>
              <a:rPr lang="en-IN" sz="1200" b="1" baseline="-25000" dirty="0" err="1"/>
              <a:t>anode</a:t>
            </a:r>
            <a:r>
              <a:rPr lang="en-IN" sz="1200" b="1" dirty="0"/>
              <a:t> = 0.3 V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6DF5E3-9C91-618C-E0D7-70E9CE262469}"/>
              </a:ext>
            </a:extLst>
          </p:cNvPr>
          <p:cNvSpPr txBox="1"/>
          <p:nvPr/>
        </p:nvSpPr>
        <p:spPr>
          <a:xfrm>
            <a:off x="5818335" y="3998222"/>
            <a:ext cx="1006438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V</a:t>
            </a:r>
            <a:r>
              <a:rPr lang="en-IN" sz="1200" b="1" baseline="-25000" dirty="0" err="1"/>
              <a:t>anode</a:t>
            </a:r>
            <a:r>
              <a:rPr lang="en-IN" sz="1200" b="1" dirty="0"/>
              <a:t> = 0.4 V</a:t>
            </a:r>
          </a:p>
        </p:txBody>
      </p:sp>
    </p:spTree>
    <p:extLst>
      <p:ext uri="{BB962C8B-B14F-4D97-AF65-F5344CB8AC3E}">
        <p14:creationId xmlns:p14="http://schemas.microsoft.com/office/powerpoint/2010/main" val="3898616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8DC0-3350-A8C9-A2C1-71AD0DBE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D2A577-8E54-55E9-E0ED-5FEE0197C490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BB992-C95F-CAC9-1FAB-DD269BCC1E6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A78EC-A689-85E3-C168-09CD3D0436A7}"/>
              </a:ext>
            </a:extLst>
          </p:cNvPr>
          <p:cNvSpPr txBox="1"/>
          <p:nvPr/>
        </p:nvSpPr>
        <p:spPr>
          <a:xfrm>
            <a:off x="121815" y="58430"/>
            <a:ext cx="67816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Variation of e</a:t>
            </a:r>
            <a:r>
              <a:rPr lang="en-IN" sz="2800" baseline="30000" dirty="0"/>
              <a:t>-</a:t>
            </a:r>
            <a:r>
              <a:rPr lang="en-IN" sz="2800" dirty="0"/>
              <a:t> Mobility </a:t>
            </a:r>
            <a:r>
              <a:rPr lang="en-IN" sz="2800" dirty="0" err="1"/>
              <a:t>w.r.t.</a:t>
            </a:r>
            <a:r>
              <a:rPr lang="en-IN" sz="2800" dirty="0"/>
              <a:t> Anode Voltage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DB9100-FA19-FD55-72D2-9C15A8368FE5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101F7-E35E-1D5D-F2A3-6B8526F1B67B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15               16 – March - 2026</a:t>
            </a:r>
          </a:p>
        </p:txBody>
      </p:sp>
      <p:graphicFrame>
        <p:nvGraphicFramePr>
          <p:cNvPr id="6" name="Object 5" descr="Project Path: &#10;PE Folder: /UNTITLED/Folder1/&#10;Short Name: Graph1">
            <a:extLst>
              <a:ext uri="{FF2B5EF4-FFF2-40B4-BE49-F238E27FC236}">
                <a16:creationId xmlns:a16="http://schemas.microsoft.com/office/drawing/2014/main" id="{22F2927C-0FFD-02A6-BE51-B226C46141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648" y="447337"/>
          <a:ext cx="8903846" cy="631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6" name="Object 5" descr="Project Path: &#10;PE Folder: /UNTITLED/Folder1/&#10;Short Name: Graph1">
                        <a:extLst>
                          <a:ext uri="{FF2B5EF4-FFF2-40B4-BE49-F238E27FC236}">
                            <a16:creationId xmlns:a16="http://schemas.microsoft.com/office/drawing/2014/main" id="{22F2927C-0FFD-02A6-BE51-B226C46141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648" y="447337"/>
                        <a:ext cx="8903846" cy="6316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5663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14D8-BA2A-B202-D667-7F4CA0C3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22D1BC-9910-D8F7-F94A-D99045DC0BB2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C1C4F-EDAF-581B-CE7B-6B0F4E994EA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55827-1213-C603-DF01-8CEE1E6AB1DA}"/>
              </a:ext>
            </a:extLst>
          </p:cNvPr>
          <p:cNvSpPr txBox="1"/>
          <p:nvPr/>
        </p:nvSpPr>
        <p:spPr>
          <a:xfrm>
            <a:off x="121815" y="58430"/>
            <a:ext cx="67816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Variation of e</a:t>
            </a:r>
            <a:r>
              <a:rPr lang="en-IN" sz="2800" baseline="30000" dirty="0"/>
              <a:t>-</a:t>
            </a:r>
            <a:r>
              <a:rPr lang="en-IN" sz="2800" dirty="0"/>
              <a:t> Mobility </a:t>
            </a:r>
            <a:r>
              <a:rPr lang="en-IN" sz="2800" dirty="0" err="1"/>
              <a:t>w.r.t.</a:t>
            </a:r>
            <a:r>
              <a:rPr lang="en-IN" sz="2800" dirty="0"/>
              <a:t> Anode Voltage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77A5F-61E9-0FAD-9040-7580B69E4551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D46A7-7070-B082-9B8F-BE0CA0EED459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16               16 – March - 2026</a:t>
            </a:r>
          </a:p>
        </p:txBody>
      </p:sp>
      <p:graphicFrame>
        <p:nvGraphicFramePr>
          <p:cNvPr id="5" name="Object 4" descr="Project Path: &#10;PE Folder: /UNTITLED/Folder1/&#10;Short Name: Graph2">
            <a:extLst>
              <a:ext uri="{FF2B5EF4-FFF2-40B4-BE49-F238E27FC236}">
                <a16:creationId xmlns:a16="http://schemas.microsoft.com/office/drawing/2014/main" id="{998B72BE-FB79-2487-4299-3D6B87FE9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82" y="375215"/>
          <a:ext cx="9138383" cy="648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&#10;PE Folder: /UNTITLED/Folder1/&#10;Short Name: Graph2">
                        <a:extLst>
                          <a:ext uri="{FF2B5EF4-FFF2-40B4-BE49-F238E27FC236}">
                            <a16:creationId xmlns:a16="http://schemas.microsoft.com/office/drawing/2014/main" id="{998B72BE-FB79-2487-4299-3D6B87FE9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482" y="375215"/>
                        <a:ext cx="9138383" cy="6482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970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A9F47-B1ED-BD66-6834-A8AA989B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1CA75C-F4AC-3D02-03DD-85158922A32C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5BFEA-A726-7091-FDCA-014D049E45DA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5B259-1927-715A-5D60-5FD0D6F4A942}"/>
              </a:ext>
            </a:extLst>
          </p:cNvPr>
          <p:cNvSpPr txBox="1"/>
          <p:nvPr/>
        </p:nvSpPr>
        <p:spPr>
          <a:xfrm>
            <a:off x="121815" y="58430"/>
            <a:ext cx="73932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Variation of e</a:t>
            </a:r>
            <a:r>
              <a:rPr lang="en-IN" sz="2800" baseline="30000" dirty="0"/>
              <a:t>-</a:t>
            </a:r>
            <a:r>
              <a:rPr lang="en-IN" sz="2800" dirty="0"/>
              <a:t> Drift Velocity </a:t>
            </a:r>
            <a:r>
              <a:rPr lang="en-IN" sz="2800" dirty="0" err="1"/>
              <a:t>w.r.t.</a:t>
            </a:r>
            <a:r>
              <a:rPr lang="en-IN" sz="2800" dirty="0"/>
              <a:t> Anode Voltage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14B64-D098-79B8-B08F-86F081D27462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BE31B-171E-7608-42F0-4C2EEE918DCD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17                16 – March - 2026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35E328-1873-C0E0-5088-23544CB05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r="4631" b="3398"/>
          <a:stretch>
            <a:fillRect/>
          </a:stretch>
        </p:blipFill>
        <p:spPr>
          <a:xfrm>
            <a:off x="1" y="1425389"/>
            <a:ext cx="6329081" cy="4186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E79A5-86BD-0EB9-D7F4-478D0C1B4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" r="3717"/>
          <a:stretch>
            <a:fillRect/>
          </a:stretch>
        </p:blipFill>
        <p:spPr>
          <a:xfrm>
            <a:off x="6418572" y="1429731"/>
            <a:ext cx="5773427" cy="38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85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3D02-EEC6-6BCC-3B7F-0BC4F03E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A0B49C-3364-09C9-9C56-EB8A25CCCE97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291EA-5AA5-EAFE-3BA4-A20E94D21F4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FA23F-30DD-5FCF-508A-222CA02F8B67}"/>
              </a:ext>
            </a:extLst>
          </p:cNvPr>
          <p:cNvSpPr txBox="1"/>
          <p:nvPr/>
        </p:nvSpPr>
        <p:spPr>
          <a:xfrm>
            <a:off x="121815" y="58430"/>
            <a:ext cx="73932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Variation of e</a:t>
            </a:r>
            <a:r>
              <a:rPr lang="en-IN" sz="2800" baseline="30000" dirty="0"/>
              <a:t>-</a:t>
            </a:r>
            <a:r>
              <a:rPr lang="en-IN" sz="2800" dirty="0"/>
              <a:t> Drift Velocity </a:t>
            </a:r>
            <a:r>
              <a:rPr lang="en-IN" sz="2800" dirty="0" err="1"/>
              <a:t>w.r.t.</a:t>
            </a:r>
            <a:r>
              <a:rPr lang="en-IN" sz="2800" dirty="0"/>
              <a:t> Anode Voltage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7B52A-B23D-F432-FC63-9C9A7926654E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568FE-B3E8-D5B9-1145-8FCE8279EE36}"/>
              </a:ext>
            </a:extLst>
          </p:cNvPr>
          <p:cNvSpPr txBox="1"/>
          <p:nvPr/>
        </p:nvSpPr>
        <p:spPr>
          <a:xfrm>
            <a:off x="9430871" y="6524677"/>
            <a:ext cx="2689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18                16 – March - 2026</a:t>
            </a:r>
          </a:p>
        </p:txBody>
      </p:sp>
      <p:graphicFrame>
        <p:nvGraphicFramePr>
          <p:cNvPr id="5" name="Object 4" descr="Project Path: C:\Users\NIPUN\Documents\OriginLab\User Files\Tuning Parameters\mobility and drift vel.opju&#10;PE Folder: /mobility and drift vel/Folder1/&#10;Short Name: Graph3">
            <a:extLst>
              <a:ext uri="{FF2B5EF4-FFF2-40B4-BE49-F238E27FC236}">
                <a16:creationId xmlns:a16="http://schemas.microsoft.com/office/drawing/2014/main" id="{C338323A-6F1E-5F2C-AF42-82414021D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5507" y="202165"/>
          <a:ext cx="9545486" cy="6771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mobility and drift vel.opju&#10;PE Folder: /mobility and drift vel/Folder1/&#10;Short Name: Graph3">
                        <a:extLst>
                          <a:ext uri="{FF2B5EF4-FFF2-40B4-BE49-F238E27FC236}">
                            <a16:creationId xmlns:a16="http://schemas.microsoft.com/office/drawing/2014/main" id="{C338323A-6F1E-5F2C-AF42-82414021D0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5507" y="202165"/>
                        <a:ext cx="9545486" cy="6771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673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87F9-11D1-0BA0-E331-511EB272F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0AA95-E489-5374-ACF7-D0E0BF221350}"/>
              </a:ext>
            </a:extLst>
          </p:cNvPr>
          <p:cNvSpPr/>
          <p:nvPr/>
        </p:nvSpPr>
        <p:spPr>
          <a:xfrm>
            <a:off x="0" y="1570536"/>
            <a:ext cx="12188952" cy="3429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A98A5-C113-950A-3388-879349A853E7}"/>
              </a:ext>
            </a:extLst>
          </p:cNvPr>
          <p:cNvSpPr txBox="1"/>
          <p:nvPr/>
        </p:nvSpPr>
        <p:spPr>
          <a:xfrm>
            <a:off x="1885903" y="1996165"/>
            <a:ext cx="8414098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sz="8000" dirty="0"/>
              <a:t>DEVICE ELECTRICAL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sz="8000" dirty="0"/>
              <a:t>BREAKDOWN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D08EE5-2C8A-C5DF-805D-73C0C70B414C}"/>
              </a:ext>
            </a:extLst>
          </p:cNvPr>
          <p:cNvSpPr/>
          <p:nvPr/>
        </p:nvSpPr>
        <p:spPr>
          <a:xfrm>
            <a:off x="-1459" y="1439314"/>
            <a:ext cx="12192000" cy="116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A6239C-D18F-CAAC-635F-30ECD9C1A542}"/>
              </a:ext>
            </a:extLst>
          </p:cNvPr>
          <p:cNvSpPr/>
          <p:nvPr/>
        </p:nvSpPr>
        <p:spPr>
          <a:xfrm>
            <a:off x="-3048" y="4990702"/>
            <a:ext cx="12192000" cy="116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903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ACD5-C3C4-A66D-B65B-A2350A22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916CBE-D872-C284-CCA8-DA389DD965B5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A2FCD-B891-3FDC-A68D-75CA154C32E0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E0576-99FB-A8F3-D10B-BF3F22E098EB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19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53E41-48CB-A563-1C5A-47A50B68E71E}"/>
              </a:ext>
            </a:extLst>
          </p:cNvPr>
          <p:cNvSpPr txBox="1"/>
          <p:nvPr/>
        </p:nvSpPr>
        <p:spPr>
          <a:xfrm>
            <a:off x="121815" y="58430"/>
            <a:ext cx="47310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Electrical Breakdown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FFA983-EDCA-C541-35E8-835A6DD9CFE4}"/>
              </a:ext>
            </a:extLst>
          </p:cNvPr>
          <p:cNvSpPr/>
          <p:nvPr/>
        </p:nvSpPr>
        <p:spPr>
          <a:xfrm>
            <a:off x="277153" y="769057"/>
            <a:ext cx="3363513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Breakdown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D6EFD-7E39-D0A3-A77D-9E1B3D2CED9A}"/>
              </a:ext>
            </a:extLst>
          </p:cNvPr>
          <p:cNvSpPr txBox="1"/>
          <p:nvPr/>
        </p:nvSpPr>
        <p:spPr>
          <a:xfrm>
            <a:off x="864606" y="1746700"/>
            <a:ext cx="493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1. Approximate Breakdown Analysis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A85A9A-FB03-5A2D-219A-409FDB829081}"/>
              </a:ext>
            </a:extLst>
          </p:cNvPr>
          <p:cNvCxnSpPr>
            <a:cxnSpLocks/>
          </p:cNvCxnSpPr>
          <p:nvPr/>
        </p:nvCxnSpPr>
        <p:spPr>
          <a:xfrm>
            <a:off x="446916" y="1409137"/>
            <a:ext cx="0" cy="45274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02FAA6-7D97-2790-959C-CBD8CBFF49D2}"/>
              </a:ext>
            </a:extLst>
          </p:cNvPr>
          <p:cNvCxnSpPr>
            <a:cxnSpLocks/>
          </p:cNvCxnSpPr>
          <p:nvPr/>
        </p:nvCxnSpPr>
        <p:spPr>
          <a:xfrm>
            <a:off x="446916" y="1984980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9A2B86-D12B-748D-5C54-A8616E35E645}"/>
              </a:ext>
            </a:extLst>
          </p:cNvPr>
          <p:cNvCxnSpPr>
            <a:cxnSpLocks/>
          </p:cNvCxnSpPr>
          <p:nvPr/>
        </p:nvCxnSpPr>
        <p:spPr>
          <a:xfrm>
            <a:off x="429982" y="2766145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F58845-8F05-8055-CA16-3DE68AAD961A}"/>
              </a:ext>
            </a:extLst>
          </p:cNvPr>
          <p:cNvCxnSpPr>
            <a:cxnSpLocks/>
          </p:cNvCxnSpPr>
          <p:nvPr/>
        </p:nvCxnSpPr>
        <p:spPr>
          <a:xfrm>
            <a:off x="429982" y="3602113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0B98B9-5BD2-7BAA-22AF-A03D26C1EFFB}"/>
              </a:ext>
            </a:extLst>
          </p:cNvPr>
          <p:cNvCxnSpPr>
            <a:cxnSpLocks/>
          </p:cNvCxnSpPr>
          <p:nvPr/>
        </p:nvCxnSpPr>
        <p:spPr>
          <a:xfrm>
            <a:off x="438449" y="4372580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0610E9-9B55-6671-0869-05F213F93100}"/>
              </a:ext>
            </a:extLst>
          </p:cNvPr>
          <p:cNvCxnSpPr>
            <a:cxnSpLocks/>
          </p:cNvCxnSpPr>
          <p:nvPr/>
        </p:nvCxnSpPr>
        <p:spPr>
          <a:xfrm>
            <a:off x="446916" y="5094480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F3D783-FD11-A3B2-B24A-752BBEC1AE97}"/>
              </a:ext>
            </a:extLst>
          </p:cNvPr>
          <p:cNvCxnSpPr>
            <a:cxnSpLocks/>
          </p:cNvCxnSpPr>
          <p:nvPr/>
        </p:nvCxnSpPr>
        <p:spPr>
          <a:xfrm>
            <a:off x="429982" y="5918201"/>
            <a:ext cx="3066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4C6AF2-A56E-4710-120B-C8154353ED0F}"/>
              </a:ext>
            </a:extLst>
          </p:cNvPr>
          <p:cNvSpPr txBox="1"/>
          <p:nvPr/>
        </p:nvSpPr>
        <p:spPr>
          <a:xfrm>
            <a:off x="864605" y="2535312"/>
            <a:ext cx="576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2. Ionization Integrals with Carriers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0986C6-ED26-3D21-E223-B86C7C223EE4}"/>
              </a:ext>
            </a:extLst>
          </p:cNvPr>
          <p:cNvSpPr txBox="1"/>
          <p:nvPr/>
        </p:nvSpPr>
        <p:spPr>
          <a:xfrm>
            <a:off x="898635" y="3371280"/>
            <a:ext cx="493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External resistor method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1987C-C059-CF6F-6ED9-949517307725}"/>
              </a:ext>
            </a:extLst>
          </p:cNvPr>
          <p:cNvSpPr txBox="1"/>
          <p:nvPr/>
        </p:nvSpPr>
        <p:spPr>
          <a:xfrm>
            <a:off x="864605" y="4146479"/>
            <a:ext cx="9169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4. Voltage – to – current boundary condition (BC) switching method	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7A162-8AB8-369D-48F9-5E90A024189E}"/>
              </a:ext>
            </a:extLst>
          </p:cNvPr>
          <p:cNvSpPr txBox="1"/>
          <p:nvPr/>
        </p:nvSpPr>
        <p:spPr>
          <a:xfrm>
            <a:off x="864605" y="4863647"/>
            <a:ext cx="493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5. Continuation Method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E9E19-6DD1-C373-B136-4938850E37F7}"/>
              </a:ext>
            </a:extLst>
          </p:cNvPr>
          <p:cNvSpPr txBox="1"/>
          <p:nvPr/>
        </p:nvSpPr>
        <p:spPr>
          <a:xfrm>
            <a:off x="864605" y="5687368"/>
            <a:ext cx="493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6. Transient Method</a:t>
            </a:r>
          </a:p>
        </p:txBody>
      </p:sp>
    </p:spTree>
    <p:extLst>
      <p:ext uri="{BB962C8B-B14F-4D97-AF65-F5344CB8AC3E}">
        <p14:creationId xmlns:p14="http://schemas.microsoft.com/office/powerpoint/2010/main" val="1387549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B21D-3217-F02A-C14B-B8F10C76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040647-89AA-9BBD-17F6-195B40EA9EE4}"/>
              </a:ext>
            </a:extLst>
          </p:cNvPr>
          <p:cNvSpPr/>
          <p:nvPr/>
        </p:nvSpPr>
        <p:spPr>
          <a:xfrm>
            <a:off x="9753600" y="5791200"/>
            <a:ext cx="2209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82DDD-7F10-CF17-A76F-0281094FF49E}"/>
              </a:ext>
            </a:extLst>
          </p:cNvPr>
          <p:cNvSpPr txBox="1"/>
          <p:nvPr/>
        </p:nvSpPr>
        <p:spPr>
          <a:xfrm>
            <a:off x="270063" y="893259"/>
            <a:ext cx="11648825" cy="668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kern="100" dirty="0">
                <a:cs typeface="Times New Roman" panose="02020603050405020304" pitchFamily="18" charset="0"/>
              </a:rPr>
              <a:t>ADVANTAGES: </a:t>
            </a:r>
            <a:r>
              <a:rPr lang="en-US" sz="2000" b="1" kern="100" dirty="0">
                <a:cs typeface="Times New Roman" panose="02020603050405020304" pitchFamily="18" charset="0"/>
              </a:rPr>
              <a:t>Fast</a:t>
            </a:r>
            <a:r>
              <a:rPr lang="en-US" sz="2000" kern="100" dirty="0">
                <a:cs typeface="Times New Roman" panose="02020603050405020304" pitchFamily="18" charset="0"/>
              </a:rPr>
              <a:t>; it does not consume much memory since it requires only the Poisson analysis. Qualitatively produces reasonable results.</a:t>
            </a:r>
          </a:p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00" dirty="0">
                <a:cs typeface="Times New Roman" panose="02020603050405020304" pitchFamily="18" charset="0"/>
              </a:rPr>
              <a:t>LIMITATIONS:   Can be applied only to off-state breakdown problematics, where currents are still negligibly small. Quantitatively </a:t>
            </a:r>
            <a:r>
              <a:rPr lang="en-US" sz="2000" b="1" kern="100" dirty="0">
                <a:cs typeface="Times New Roman" panose="02020603050405020304" pitchFamily="18" charset="0"/>
              </a:rPr>
              <a:t>not very precise</a:t>
            </a:r>
            <a:r>
              <a:rPr lang="en-US" sz="2000" kern="100" dirty="0">
                <a:cs typeface="Times New Roman" panose="02020603050405020304" pitchFamily="18" charset="0"/>
              </a:rPr>
              <a:t>; usually underestimates a breakdown.</a:t>
            </a:r>
          </a:p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activate breakdown analysis, </a:t>
            </a:r>
            <a:r>
              <a:rPr lang="en-US" sz="2000" dirty="0" err="1"/>
              <a:t>Sentaurus</a:t>
            </a:r>
            <a:r>
              <a:rPr lang="en-US" sz="2000" dirty="0"/>
              <a:t> Device provides the driving force </a:t>
            </a:r>
            <a:r>
              <a:rPr lang="en-US" sz="2000" dirty="0" err="1"/>
              <a:t>ElectricField</a:t>
            </a:r>
            <a:r>
              <a:rPr lang="en-US" sz="2000" dirty="0"/>
              <a:t>, which can be computed even for constant quasi-Fermi levels.</a:t>
            </a:r>
          </a:p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Specifying </a:t>
            </a:r>
            <a:r>
              <a:rPr lang="en-US" sz="2000" b="1" dirty="0" err="1"/>
              <a:t>ComputeIonizationIntegrals</a:t>
            </a:r>
            <a:r>
              <a:rPr lang="en-US" sz="2000" b="1" dirty="0"/>
              <a:t> </a:t>
            </a:r>
            <a:r>
              <a:rPr lang="en-US" sz="2000" dirty="0"/>
              <a:t>in the Math section switches on computation of the ionization integrals. 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For example: Math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                              { ...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                               </a:t>
            </a:r>
            <a:r>
              <a:rPr lang="en-US" sz="2000" dirty="0" err="1"/>
              <a:t>ComputeIonizationIntegrals</a:t>
            </a:r>
            <a:r>
              <a:rPr lang="en-US" sz="2000" dirty="0"/>
              <a:t> () 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                              }</a:t>
            </a:r>
          </a:p>
          <a:p>
            <a:pPr algn="just" hangingPunct="0">
              <a:lnSpc>
                <a:spcPct val="150000"/>
              </a:lnSpc>
            </a:pPr>
            <a:endParaRPr lang="en-IN" sz="2400" kern="100" dirty="0">
              <a:cs typeface="Times New Roman" panose="02020603050405020304" pitchFamily="18" charset="0"/>
            </a:endParaRPr>
          </a:p>
          <a:p>
            <a:pPr algn="just" hangingPunct="0">
              <a:lnSpc>
                <a:spcPct val="150000"/>
              </a:lnSpc>
            </a:pPr>
            <a:r>
              <a:rPr lang="en-IN" sz="2400" kern="100" dirty="0">
                <a:cs typeface="Times New Roman" panose="02020603050405020304" pitchFamily="18" charset="0"/>
              </a:rPr>
              <a:t>  </a:t>
            </a:r>
            <a:endParaRPr lang="en-IN" sz="2400" dirty="0"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0752BA-E217-7A22-6FCF-89D4118AA83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54935-5D63-9843-A15E-CBF527EE6A9F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6B52D-5FB0-C742-C2BD-A00A362649A3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20 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760C7-1D9D-6AFA-9B4F-D78AE5C2E753}"/>
              </a:ext>
            </a:extLst>
          </p:cNvPr>
          <p:cNvSpPr txBox="1"/>
          <p:nvPr/>
        </p:nvSpPr>
        <p:spPr>
          <a:xfrm>
            <a:off x="121815" y="58430"/>
            <a:ext cx="51933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Approximate Breakdown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65F23-AED2-7D27-80A1-BF4D483579E8}"/>
              </a:ext>
            </a:extLst>
          </p:cNvPr>
          <p:cNvSpPr txBox="1"/>
          <p:nvPr/>
        </p:nvSpPr>
        <p:spPr>
          <a:xfrm>
            <a:off x="135467" y="6509551"/>
            <a:ext cx="9889067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1" dirty="0">
                <a:solidFill>
                  <a:srgbClr val="0070C0"/>
                </a:solidFill>
              </a:rPr>
              <a:t>U-2022.12/</a:t>
            </a:r>
            <a:r>
              <a:rPr lang="en-IN" sz="1500" b="1" i="1" dirty="0" err="1">
                <a:solidFill>
                  <a:srgbClr val="0070C0"/>
                </a:solidFill>
              </a:rPr>
              <a:t>Sentaurus_Training</a:t>
            </a:r>
            <a:r>
              <a:rPr lang="en-IN" sz="1500" b="1" i="1" dirty="0">
                <a:solidFill>
                  <a:srgbClr val="0070C0"/>
                </a:solidFill>
              </a:rPr>
              <a:t>/</a:t>
            </a:r>
            <a:r>
              <a:rPr lang="en-IN" sz="1500" b="1" i="1" dirty="0" err="1">
                <a:solidFill>
                  <a:srgbClr val="0070C0"/>
                </a:solidFill>
              </a:rPr>
              <a:t>sd</a:t>
            </a:r>
            <a:r>
              <a:rPr lang="en-IN" sz="1500" b="1" i="1" dirty="0">
                <a:solidFill>
                  <a:srgbClr val="0070C0"/>
                </a:solidFill>
              </a:rPr>
              <a:t>/sd_11.html, </a:t>
            </a:r>
            <a:r>
              <a:rPr lang="en-IN" sz="1400" b="1" i="1" dirty="0" err="1">
                <a:solidFill>
                  <a:srgbClr val="0070C0"/>
                </a:solidFill>
              </a:rPr>
              <a:t>Sentaurus</a:t>
            </a:r>
            <a:r>
              <a:rPr lang="en-IN" sz="1400" b="1" i="1" dirty="0">
                <a:solidFill>
                  <a:srgbClr val="0070C0"/>
                </a:solidFill>
              </a:rPr>
              <a:t>™ Device User Guide</a:t>
            </a:r>
          </a:p>
          <a:p>
            <a:endParaRPr lang="en-IN" sz="15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212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5AB6-FF4C-E383-8FC3-43F61280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8AFAD4-18E7-DCF4-79F8-849B620D66B8}"/>
              </a:ext>
            </a:extLst>
          </p:cNvPr>
          <p:cNvSpPr txBox="1"/>
          <p:nvPr/>
        </p:nvSpPr>
        <p:spPr>
          <a:xfrm>
            <a:off x="121815" y="1540662"/>
            <a:ext cx="1164882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kern="100" dirty="0">
                <a:cs typeface="Times New Roman" panose="02020603050405020304" pitchFamily="18" charset="0"/>
              </a:rPr>
              <a:t>ADVANTAGES: </a:t>
            </a:r>
            <a:r>
              <a:rPr lang="en-US" sz="2400" kern="100" dirty="0">
                <a:cs typeface="Times New Roman" panose="02020603050405020304" pitchFamily="18" charset="0"/>
              </a:rPr>
              <a:t>Similar to approximate breakdown analysis in terms of ionization integrals computation. This method solves the entire carrier transport task, having the avalanche term deactivated in the right-hand side of the continuity equation, but computed in a postprocessing step.</a:t>
            </a:r>
          </a:p>
          <a:p>
            <a:pPr marL="342900" indent="-342900" algn="just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cs typeface="Times New Roman" panose="02020603050405020304" pitchFamily="18" charset="0"/>
              </a:rPr>
              <a:t>LIMITATIONS:   Requires educated guess from user to decide when to stop a simulation.</a:t>
            </a:r>
            <a:r>
              <a:rPr lang="en-IN" sz="2400" kern="100" dirty="0">
                <a:cs typeface="Times New Roman" panose="02020603050405020304" pitchFamily="18" charset="0"/>
              </a:rPr>
              <a:t>  </a:t>
            </a:r>
            <a:endParaRPr lang="en-IN" sz="2400" dirty="0"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F1F36-F3A9-7039-F04A-AA3F386CB13D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5332A-7304-F2FC-1AAC-6CFF6A23BB43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3D837-558F-4F9C-5A8A-60C21F74FD0D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21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CE86E-2E21-90EF-92BA-4F071AAEFC19}"/>
              </a:ext>
            </a:extLst>
          </p:cNvPr>
          <p:cNvSpPr txBox="1"/>
          <p:nvPr/>
        </p:nvSpPr>
        <p:spPr>
          <a:xfrm>
            <a:off x="121815" y="58430"/>
            <a:ext cx="62470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Ionization Integrals with carriers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926D3-C184-8792-C2DA-B11ADADEDB2B}"/>
              </a:ext>
            </a:extLst>
          </p:cNvPr>
          <p:cNvSpPr txBox="1"/>
          <p:nvPr/>
        </p:nvSpPr>
        <p:spPr>
          <a:xfrm>
            <a:off x="135467" y="6509551"/>
            <a:ext cx="9889067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1" dirty="0">
                <a:solidFill>
                  <a:srgbClr val="0070C0"/>
                </a:solidFill>
              </a:rPr>
              <a:t>U-2022.12/Sentaurus_Training/sd/sd_11.html , </a:t>
            </a:r>
            <a:r>
              <a:rPr lang="en-IN" sz="1400" b="1" i="1" dirty="0" err="1">
                <a:solidFill>
                  <a:srgbClr val="0070C0"/>
                </a:solidFill>
              </a:rPr>
              <a:t>Sentaurus</a:t>
            </a:r>
            <a:r>
              <a:rPr lang="en-IN" sz="1400" b="1" i="1" dirty="0">
                <a:solidFill>
                  <a:srgbClr val="0070C0"/>
                </a:solidFill>
              </a:rPr>
              <a:t>™ Device User Guide</a:t>
            </a:r>
          </a:p>
          <a:p>
            <a:endParaRPr lang="en-IN" sz="15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55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FAFB-9037-3CED-23C1-DB05D4C9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606DCA-3FEC-7A0D-343F-8AE31BE584A3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73101-0B14-67E2-76CC-0146921C043E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C7391-B22D-8687-7554-5C66AB030723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22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1A5C7-0F56-1B37-A21C-50D6FFF61A8D}"/>
              </a:ext>
            </a:extLst>
          </p:cNvPr>
          <p:cNvSpPr txBox="1"/>
          <p:nvPr/>
        </p:nvSpPr>
        <p:spPr>
          <a:xfrm>
            <a:off x="121815" y="58430"/>
            <a:ext cx="5064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Extraction of Breakdown Voltage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3ED58-EA2C-C5F3-2078-5000AA145FEB}"/>
              </a:ext>
            </a:extLst>
          </p:cNvPr>
          <p:cNvSpPr txBox="1"/>
          <p:nvPr/>
        </p:nvSpPr>
        <p:spPr>
          <a:xfrm>
            <a:off x="8853478" y="1005784"/>
            <a:ext cx="324538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Breakdown Voltage, </a:t>
            </a:r>
            <a:r>
              <a:rPr lang="en-IN" sz="1600" b="1" dirty="0"/>
              <a:t>BV</a:t>
            </a:r>
            <a:r>
              <a:rPr lang="en-IN" sz="1600" b="1" baseline="-25000" dirty="0"/>
              <a:t>PP</a:t>
            </a:r>
            <a:r>
              <a:rPr lang="en-IN" sz="1600" b="1" dirty="0"/>
              <a:t> = </a:t>
            </a:r>
            <a:r>
              <a:rPr lang="en-US" sz="1600" b="1" dirty="0"/>
              <a:t>49.458 V</a:t>
            </a:r>
            <a:r>
              <a:rPr lang="en-US" sz="1600" b="1" baseline="-25000" dirty="0"/>
              <a:t>  </a:t>
            </a:r>
            <a:endParaRPr lang="en-IN" sz="1600" b="1" baseline="-25000" dirty="0"/>
          </a:p>
        </p:txBody>
      </p:sp>
      <p:graphicFrame>
        <p:nvGraphicFramePr>
          <p:cNvPr id="5" name="Object 4" descr="Project Path: C:\Users\NIPUN\Documents\OriginLab\User Files\Tuning Parameters\breakdown.opju&#10;PE Folder: /breakdown/Folder1/&#10;Short Name: Graph3">
            <a:extLst>
              <a:ext uri="{FF2B5EF4-FFF2-40B4-BE49-F238E27FC236}">
                <a16:creationId xmlns:a16="http://schemas.microsoft.com/office/drawing/2014/main" id="{05FEEC10-840F-0A4D-E587-94AC24BBE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06" y="468195"/>
          <a:ext cx="8865273" cy="628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breakdown.opju&#10;PE Folder: /breakdown/Folder1/&#10;Short Name: Graph3">
                        <a:extLst>
                          <a:ext uri="{FF2B5EF4-FFF2-40B4-BE49-F238E27FC236}">
                            <a16:creationId xmlns:a16="http://schemas.microsoft.com/office/drawing/2014/main" id="{05FEEC10-840F-0A4D-E587-94AC24BBEB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06" y="468195"/>
                        <a:ext cx="8865273" cy="6289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704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C1F-7E8F-A7FF-8BAA-2D55F7B4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7EA195-CE37-4EA9-1B1A-621F5D88081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19B23-FD0F-0E31-00C9-E66D2ABF179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1780A-9704-66D4-E2FA-D40B0C4F0334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23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DE2DD-7443-63FA-EF30-B9A3DAB3F3B3}"/>
              </a:ext>
            </a:extLst>
          </p:cNvPr>
          <p:cNvSpPr txBox="1"/>
          <p:nvPr/>
        </p:nvSpPr>
        <p:spPr>
          <a:xfrm>
            <a:off x="121815" y="58430"/>
            <a:ext cx="51933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Approximate Breakdown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FFB42-533B-C105-7127-7C94667EFBEF}"/>
              </a:ext>
            </a:extLst>
          </p:cNvPr>
          <p:cNvSpPr txBox="1"/>
          <p:nvPr/>
        </p:nvSpPr>
        <p:spPr>
          <a:xfrm>
            <a:off x="8987360" y="799866"/>
            <a:ext cx="31329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Reverse Saturation Current      = -8.243 x 10</a:t>
            </a:r>
            <a:r>
              <a:rPr lang="en-US" b="1" baseline="30000" dirty="0"/>
              <a:t>-5  </a:t>
            </a:r>
            <a:r>
              <a:rPr lang="en-US" b="1" dirty="0"/>
              <a:t>A/cm</a:t>
            </a:r>
            <a:r>
              <a:rPr lang="en-US" b="1" baseline="30000" dirty="0"/>
              <a:t>2</a:t>
            </a:r>
          </a:p>
        </p:txBody>
      </p:sp>
      <p:graphicFrame>
        <p:nvGraphicFramePr>
          <p:cNvPr id="5" name="Object 4" descr="Project Path: &#10;PE Folder: //&#10;Short Name: Graph1">
            <a:extLst>
              <a:ext uri="{FF2B5EF4-FFF2-40B4-BE49-F238E27FC236}">
                <a16:creationId xmlns:a16="http://schemas.microsoft.com/office/drawing/2014/main" id="{F51FC005-218E-D95C-0052-6EF722DD5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7734" y="320040"/>
          <a:ext cx="9133795" cy="6479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&#10;PE Folder: //&#10;Short Name: Graph1">
                        <a:extLst>
                          <a:ext uri="{FF2B5EF4-FFF2-40B4-BE49-F238E27FC236}">
                            <a16:creationId xmlns:a16="http://schemas.microsoft.com/office/drawing/2014/main" id="{F51FC005-218E-D95C-0052-6EF722DD5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67734" y="320040"/>
                        <a:ext cx="9133795" cy="6479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1631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6319-9E03-ADB2-79D0-BBF96B6B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4390A0-8685-DFB9-2234-2F356878B608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9302A-1D15-DF7B-4BC2-3269B5031FFF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6E877-F8B8-F5CD-644D-DEFA00710474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24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0ECF7-268B-3F2A-7A04-B291BC275EB7}"/>
              </a:ext>
            </a:extLst>
          </p:cNvPr>
          <p:cNvSpPr txBox="1"/>
          <p:nvPr/>
        </p:nvSpPr>
        <p:spPr>
          <a:xfrm>
            <a:off x="121815" y="58430"/>
            <a:ext cx="5064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Extraction of Breakdown Voltage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892304-BAD0-0071-00AC-7102435BC21D}"/>
              </a:ext>
            </a:extLst>
          </p:cNvPr>
          <p:cNvGraphicFramePr>
            <a:graphicFrameLocks noGrp="1"/>
          </p:cNvGraphicFramePr>
          <p:nvPr/>
        </p:nvGraphicFramePr>
        <p:xfrm>
          <a:off x="9305926" y="919614"/>
          <a:ext cx="2661497" cy="222504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60830">
                  <a:extLst>
                    <a:ext uri="{9D8B030D-6E8A-4147-A177-3AD203B41FA5}">
                      <a16:colId xmlns:a16="http://schemas.microsoft.com/office/drawing/2014/main" val="2480083950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766909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DOPING(cm</a:t>
                      </a:r>
                      <a:r>
                        <a:rPr lang="en-IN" b="1" baseline="30000" dirty="0"/>
                        <a:t>-3</a:t>
                      </a:r>
                      <a:r>
                        <a:rPr lang="en-IN" b="1" dirty="0"/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BV</a:t>
                      </a:r>
                      <a:r>
                        <a:rPr lang="en-IN" sz="1800" b="1" baseline="-25000" dirty="0"/>
                        <a:t>PP</a:t>
                      </a:r>
                      <a:r>
                        <a:rPr lang="en-IN" sz="1800" b="1" dirty="0"/>
                        <a:t> (V)</a:t>
                      </a:r>
                      <a:endParaRPr lang="en-IN" sz="1400" b="1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5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1e16</a:t>
                      </a:r>
                      <a:endParaRPr lang="en-IN" baseline="30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49.45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5e16</a:t>
                      </a:r>
                      <a:endParaRPr lang="en-IN" baseline="30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18.93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00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1e17</a:t>
                      </a:r>
                      <a:endParaRPr lang="en-IN" baseline="30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12.60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68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5e17</a:t>
                      </a:r>
                      <a:endParaRPr lang="en-IN" baseline="30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5.76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146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1e18</a:t>
                      </a:r>
                      <a:endParaRPr lang="en-IN" baseline="30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4.45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28252"/>
                  </a:ext>
                </a:extLst>
              </a:tr>
            </a:tbl>
          </a:graphicData>
        </a:graphic>
      </p:graphicFrame>
      <p:graphicFrame>
        <p:nvGraphicFramePr>
          <p:cNvPr id="2" name="Object 1" descr="Project Path: C:\Users\NIPUN\Documents\OriginLab\User Files\Tuning Parameters\finalionizationintegral.opju&#10;PE Folder: /finalionizationintegral/Folder1/&#10;Short Name: Graph4">
            <a:extLst>
              <a:ext uri="{FF2B5EF4-FFF2-40B4-BE49-F238E27FC236}">
                <a16:creationId xmlns:a16="http://schemas.microsoft.com/office/drawing/2014/main" id="{43899CBC-6E68-125B-1554-FD3FBC672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067" y="464652"/>
          <a:ext cx="9050867" cy="64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finalionizationintegral.opju&#10;PE Folder: /finalionizationintegral/Folder1/&#10;Short Name: Graph4">
                        <a:extLst>
                          <a:ext uri="{FF2B5EF4-FFF2-40B4-BE49-F238E27FC236}">
                            <a16:creationId xmlns:a16="http://schemas.microsoft.com/office/drawing/2014/main" id="{43899CBC-6E68-125B-1554-FD3FBC672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067" y="464652"/>
                        <a:ext cx="9050867" cy="64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D051E6-660F-7474-1225-5CB76F7EEE14}"/>
              </a:ext>
            </a:extLst>
          </p:cNvPr>
          <p:cNvSpPr txBox="1"/>
          <p:nvPr/>
        </p:nvSpPr>
        <p:spPr>
          <a:xfrm>
            <a:off x="9271001" y="3357337"/>
            <a:ext cx="30649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Where,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PP1</a:t>
            </a:r>
            <a:r>
              <a:rPr lang="en-IN" sz="2000" dirty="0"/>
              <a:t> -&gt; 1e16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PP2</a:t>
            </a:r>
            <a:r>
              <a:rPr lang="en-IN" sz="2000" dirty="0"/>
              <a:t> -&gt; 5e16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PP3</a:t>
            </a:r>
            <a:r>
              <a:rPr lang="en-IN" sz="2000" dirty="0"/>
              <a:t> -&gt; 1e17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PP4</a:t>
            </a:r>
            <a:r>
              <a:rPr lang="en-IN" sz="2000" dirty="0"/>
              <a:t> -&gt; 5e17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PP5</a:t>
            </a:r>
            <a:r>
              <a:rPr lang="en-IN" sz="2000" dirty="0"/>
              <a:t> -&gt; 1e18 cm</a:t>
            </a:r>
            <a:r>
              <a:rPr lang="en-IN" sz="2000" baseline="30000" dirty="0"/>
              <a:t>-3</a:t>
            </a:r>
            <a:r>
              <a:rPr lang="en-IN" sz="2000" dirty="0"/>
              <a:t> </a:t>
            </a:r>
            <a:endParaRPr lang="en-IN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58354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C1F-7E8F-A7FF-8BAA-2D55F7B4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7EA195-CE37-4EA9-1B1A-621F5D88081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19B23-FD0F-0E31-00C9-E66D2ABF179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1780A-9704-66D4-E2FA-D40B0C4F0334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25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DE2DD-7443-63FA-EF30-B9A3DAB3F3B3}"/>
              </a:ext>
            </a:extLst>
          </p:cNvPr>
          <p:cNvSpPr txBox="1"/>
          <p:nvPr/>
        </p:nvSpPr>
        <p:spPr>
          <a:xfrm>
            <a:off x="121815" y="58430"/>
            <a:ext cx="9722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Reverse Saturation Characteristics of a Schottky Barrier Rectifier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FFB42-533B-C105-7127-7C94667EFBEF}"/>
              </a:ext>
            </a:extLst>
          </p:cNvPr>
          <p:cNvSpPr txBox="1"/>
          <p:nvPr/>
        </p:nvSpPr>
        <p:spPr>
          <a:xfrm>
            <a:off x="9296642" y="859355"/>
            <a:ext cx="28236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Reverse Saturation Current      = -8.243 x 10</a:t>
            </a:r>
            <a:r>
              <a:rPr lang="en-US" b="1" baseline="30000" dirty="0"/>
              <a:t>-5  </a:t>
            </a:r>
            <a:r>
              <a:rPr lang="en-US" b="1" dirty="0"/>
              <a:t>A/cm</a:t>
            </a:r>
            <a:r>
              <a:rPr lang="en-US" b="1" baseline="30000" dirty="0"/>
              <a:t>2 </a:t>
            </a:r>
          </a:p>
        </p:txBody>
      </p:sp>
      <p:graphicFrame>
        <p:nvGraphicFramePr>
          <p:cNvPr id="9" name="Object 8" descr="Project Path: C:\Users\NIPUN\Documents\OriginLab\User Files\Tuning Parameters\abarevsat.opju&#10;PE Folder: /abarevsat/Folder1/&#10;Short Name: Graph5">
            <a:extLst>
              <a:ext uri="{FF2B5EF4-FFF2-40B4-BE49-F238E27FC236}">
                <a16:creationId xmlns:a16="http://schemas.microsoft.com/office/drawing/2014/main" id="{763A6D96-5756-BCD9-0568-08952DC9C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030" y="277705"/>
          <a:ext cx="9380862" cy="665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9" name="Object 8" descr="Project Path: C:\Users\NIPUN\Documents\OriginLab\User Files\Tuning Parameters\abarevsat.opju&#10;PE Folder: /abarevsat/Folder1/&#10;Short Name: Graph5">
                        <a:extLst>
                          <a:ext uri="{FF2B5EF4-FFF2-40B4-BE49-F238E27FC236}">
                            <a16:creationId xmlns:a16="http://schemas.microsoft.com/office/drawing/2014/main" id="{763A6D96-5756-BCD9-0568-08952DC9C6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030" y="277705"/>
                        <a:ext cx="9380862" cy="665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BE33AC6-CDA9-489E-5290-B94B62BDBBB0}"/>
              </a:ext>
            </a:extLst>
          </p:cNvPr>
          <p:cNvSpPr txBox="1"/>
          <p:nvPr/>
        </p:nvSpPr>
        <p:spPr>
          <a:xfrm>
            <a:off x="9285121" y="2459504"/>
            <a:ext cx="30649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Where,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PP1</a:t>
            </a:r>
            <a:r>
              <a:rPr lang="en-IN" sz="2000" dirty="0"/>
              <a:t> -&gt; 1e16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PP2</a:t>
            </a:r>
            <a:r>
              <a:rPr lang="en-IN" sz="2000" dirty="0"/>
              <a:t> -&gt; 5e16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PP3</a:t>
            </a:r>
            <a:r>
              <a:rPr lang="en-IN" sz="2000" dirty="0"/>
              <a:t> -&gt; 1e17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PP4</a:t>
            </a:r>
            <a:r>
              <a:rPr lang="en-IN" sz="2000" dirty="0"/>
              <a:t> -&gt; 5e17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PP5</a:t>
            </a:r>
            <a:r>
              <a:rPr lang="en-IN" sz="2000" dirty="0"/>
              <a:t> -&gt; 1e18 cm</a:t>
            </a:r>
            <a:r>
              <a:rPr lang="en-IN" sz="2000" baseline="30000" dirty="0"/>
              <a:t>-3</a:t>
            </a:r>
            <a:r>
              <a:rPr lang="en-IN" sz="2000" dirty="0"/>
              <a:t> </a:t>
            </a:r>
            <a:endParaRPr lang="en-IN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3310246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6319-9E03-ADB2-79D0-BBF96B6B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4390A0-8685-DFB9-2234-2F356878B608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9302A-1D15-DF7B-4BC2-3269B5031FFF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6E877-F8B8-F5CD-644D-DEFA00710474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26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0ECF7-268B-3F2A-7A04-B291BC275EB7}"/>
              </a:ext>
            </a:extLst>
          </p:cNvPr>
          <p:cNvSpPr txBox="1"/>
          <p:nvPr/>
        </p:nvSpPr>
        <p:spPr>
          <a:xfrm>
            <a:off x="121815" y="58430"/>
            <a:ext cx="5064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Extraction of Breakdown Voltage</a:t>
            </a:r>
          </a:p>
        </p:txBody>
      </p:sp>
      <p:graphicFrame>
        <p:nvGraphicFramePr>
          <p:cNvPr id="2" name="Object 1" descr="Project Path: C:\Users\NIPUN\Documents\OriginLab\User Files\Tuning Parameters\finalionizationintegral.opju&#10;PE Folder: /finalionizationintegral/Folder1/&#10;Short Name: Graph4">
            <a:extLst>
              <a:ext uri="{FF2B5EF4-FFF2-40B4-BE49-F238E27FC236}">
                <a16:creationId xmlns:a16="http://schemas.microsoft.com/office/drawing/2014/main" id="{43899CBC-6E68-125B-1554-FD3FBC672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067" y="464652"/>
          <a:ext cx="9050867" cy="64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finalionizationintegral.opju&#10;PE Folder: /finalionizationintegral/Folder1/&#10;Short Name: Graph4">
                        <a:extLst>
                          <a:ext uri="{FF2B5EF4-FFF2-40B4-BE49-F238E27FC236}">
                            <a16:creationId xmlns:a16="http://schemas.microsoft.com/office/drawing/2014/main" id="{43899CBC-6E68-125B-1554-FD3FBC672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067" y="464652"/>
                        <a:ext cx="9050867" cy="64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D051E6-660F-7474-1225-5CB76F7EEE14}"/>
              </a:ext>
            </a:extLst>
          </p:cNvPr>
          <p:cNvSpPr txBox="1"/>
          <p:nvPr/>
        </p:nvSpPr>
        <p:spPr>
          <a:xfrm>
            <a:off x="9366245" y="854228"/>
            <a:ext cx="30649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Where,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PP1</a:t>
            </a:r>
            <a:r>
              <a:rPr lang="en-IN" sz="2000" dirty="0"/>
              <a:t> -&gt; 1e16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PP2</a:t>
            </a:r>
            <a:r>
              <a:rPr lang="en-IN" sz="2000" dirty="0"/>
              <a:t> -&gt; 5e16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PP3</a:t>
            </a:r>
            <a:r>
              <a:rPr lang="en-IN" sz="2000" dirty="0"/>
              <a:t> -&gt; 1e17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PP4</a:t>
            </a:r>
            <a:r>
              <a:rPr lang="en-IN" sz="2000" dirty="0"/>
              <a:t> -&gt; 5e17 cm</a:t>
            </a:r>
            <a:r>
              <a:rPr lang="en-IN" sz="2000" baseline="30000" dirty="0"/>
              <a:t>-3</a:t>
            </a:r>
          </a:p>
          <a:p>
            <a:r>
              <a:rPr lang="en-IN" sz="2000" dirty="0"/>
              <a:t>BV</a:t>
            </a:r>
            <a:r>
              <a:rPr lang="en-IN" sz="2000" baseline="-25000" dirty="0"/>
              <a:t>PP5</a:t>
            </a:r>
            <a:r>
              <a:rPr lang="en-IN" sz="2000" dirty="0"/>
              <a:t> -&gt; 1e18 cm</a:t>
            </a:r>
            <a:r>
              <a:rPr lang="en-IN" sz="2000" baseline="30000" dirty="0"/>
              <a:t>-3</a:t>
            </a:r>
            <a:r>
              <a:rPr lang="en-IN" sz="2000" dirty="0"/>
              <a:t> </a:t>
            </a:r>
            <a:endParaRPr lang="en-IN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2350508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E834-A76E-9800-ADF6-951E475F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A90817-960D-1D50-CA43-2D9585CA1F1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9C0781-56C2-FE04-C5C5-EC8DA6505A0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190D7-3BA9-BD49-B608-012C7244CE78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27 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01671-B17A-2B6B-B385-5F9DFC65E3FF}"/>
              </a:ext>
            </a:extLst>
          </p:cNvPr>
          <p:cNvSpPr txBox="1"/>
          <p:nvPr/>
        </p:nvSpPr>
        <p:spPr>
          <a:xfrm>
            <a:off x="121815" y="58430"/>
            <a:ext cx="48013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Breakdown Voltage v/s Doping</a:t>
            </a:r>
          </a:p>
        </p:txBody>
      </p:sp>
      <p:graphicFrame>
        <p:nvGraphicFramePr>
          <p:cNvPr id="3" name="Object 2" descr="Project Path: &#10;PE Folder: /UNTITLED/Folder1/&#10;Short Name: Graph1">
            <a:extLst>
              <a:ext uri="{FF2B5EF4-FFF2-40B4-BE49-F238E27FC236}">
                <a16:creationId xmlns:a16="http://schemas.microsoft.com/office/drawing/2014/main" id="{14F87657-68EB-E41E-DE04-85E4D3924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384" y="304219"/>
          <a:ext cx="9202451" cy="652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3" name="Object 2" descr="Project Path: &#10;PE Folder: /UNTITLED/Folder1/&#10;Short Name: Graph1">
                        <a:extLst>
                          <a:ext uri="{FF2B5EF4-FFF2-40B4-BE49-F238E27FC236}">
                            <a16:creationId xmlns:a16="http://schemas.microsoft.com/office/drawing/2014/main" id="{14F87657-68EB-E41E-DE04-85E4D3924D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384" y="304219"/>
                        <a:ext cx="9202451" cy="652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076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C1F-7E8F-A7FF-8BAA-2D55F7B4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7EA195-CE37-4EA9-1B1A-621F5D88081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19B23-FD0F-0E31-00C9-E66D2ABF179C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1780A-9704-66D4-E2FA-D40B0C4F0334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28                 16 – March - 20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DE2DD-7443-63FA-EF30-B9A3DAB3F3B3}"/>
              </a:ext>
            </a:extLst>
          </p:cNvPr>
          <p:cNvSpPr txBox="1"/>
          <p:nvPr/>
        </p:nvSpPr>
        <p:spPr>
          <a:xfrm>
            <a:off x="121815" y="58430"/>
            <a:ext cx="9722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Reverse Saturation Characteristics of a Schottky Barrier Rectifier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FFB42-533B-C105-7127-7C94667EFBEF}"/>
              </a:ext>
            </a:extLst>
          </p:cNvPr>
          <p:cNvSpPr txBox="1"/>
          <p:nvPr/>
        </p:nvSpPr>
        <p:spPr>
          <a:xfrm>
            <a:off x="9296642" y="901690"/>
            <a:ext cx="28236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Reverse Saturation Current      = -8.243 x 10</a:t>
            </a:r>
            <a:r>
              <a:rPr lang="en-US" b="1" baseline="30000" dirty="0"/>
              <a:t>-5  </a:t>
            </a:r>
            <a:r>
              <a:rPr lang="en-US" b="1" dirty="0"/>
              <a:t>A/cm</a:t>
            </a:r>
            <a:r>
              <a:rPr lang="en-US" b="1" baseline="30000" dirty="0"/>
              <a:t>2 </a:t>
            </a:r>
          </a:p>
        </p:txBody>
      </p:sp>
      <p:graphicFrame>
        <p:nvGraphicFramePr>
          <p:cNvPr id="9" name="Object 8" descr="Project Path: C:\Users\NIPUN\Documents\OriginLab\User Files\Tuning Parameters\abarevsat.opju&#10;PE Folder: /abarevsat/Folder1/&#10;Short Name: Graph5">
            <a:extLst>
              <a:ext uri="{FF2B5EF4-FFF2-40B4-BE49-F238E27FC236}">
                <a16:creationId xmlns:a16="http://schemas.microsoft.com/office/drawing/2014/main" id="{763A6D96-5756-BCD9-0568-08952DC9C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56" y="320040"/>
          <a:ext cx="9380862" cy="665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9" name="Object 8" descr="Project Path: C:\Users\NIPUN\Documents\OriginLab\User Files\Tuning Parameters\abarevsat.opju&#10;PE Folder: /abarevsat/Folder1/&#10;Short Name: Graph5">
                        <a:extLst>
                          <a:ext uri="{FF2B5EF4-FFF2-40B4-BE49-F238E27FC236}">
                            <a16:creationId xmlns:a16="http://schemas.microsoft.com/office/drawing/2014/main" id="{763A6D96-5756-BCD9-0568-08952DC9C6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56" y="320040"/>
                        <a:ext cx="9380862" cy="665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BE33AC6-CDA9-489E-5290-B94B62BDBBB0}"/>
              </a:ext>
            </a:extLst>
          </p:cNvPr>
          <p:cNvSpPr txBox="1"/>
          <p:nvPr/>
        </p:nvSpPr>
        <p:spPr>
          <a:xfrm>
            <a:off x="9336242" y="2150418"/>
            <a:ext cx="288763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/>
              <a:t>Where,</a:t>
            </a:r>
          </a:p>
          <a:p>
            <a:r>
              <a:rPr lang="en-IN" sz="1700" dirty="0"/>
              <a:t>BV</a:t>
            </a:r>
            <a:r>
              <a:rPr lang="en-IN" sz="1700" baseline="-25000" dirty="0"/>
              <a:t>PP1</a:t>
            </a:r>
            <a:r>
              <a:rPr lang="en-IN" sz="1700" dirty="0"/>
              <a:t> -&gt; 1e16 cm</a:t>
            </a:r>
            <a:r>
              <a:rPr lang="en-IN" sz="1700" baseline="30000" dirty="0"/>
              <a:t>-3</a:t>
            </a:r>
          </a:p>
          <a:p>
            <a:r>
              <a:rPr lang="en-IN" sz="1700" dirty="0"/>
              <a:t>BV</a:t>
            </a:r>
            <a:r>
              <a:rPr lang="en-IN" sz="1700" baseline="-25000" dirty="0"/>
              <a:t>PP2</a:t>
            </a:r>
            <a:r>
              <a:rPr lang="en-IN" sz="1700" dirty="0"/>
              <a:t> -&gt; 5e16 cm</a:t>
            </a:r>
            <a:r>
              <a:rPr lang="en-IN" sz="1700" baseline="30000" dirty="0"/>
              <a:t>-3</a:t>
            </a:r>
          </a:p>
          <a:p>
            <a:r>
              <a:rPr lang="en-IN" sz="1700" dirty="0"/>
              <a:t>BV</a:t>
            </a:r>
            <a:r>
              <a:rPr lang="en-IN" sz="1700" baseline="-25000" dirty="0"/>
              <a:t>PP3</a:t>
            </a:r>
            <a:r>
              <a:rPr lang="en-IN" sz="1700" dirty="0"/>
              <a:t> -&gt; 1e17 cm</a:t>
            </a:r>
            <a:r>
              <a:rPr lang="en-IN" sz="1700" baseline="30000" dirty="0"/>
              <a:t>-3</a:t>
            </a:r>
          </a:p>
          <a:p>
            <a:r>
              <a:rPr lang="en-IN" sz="1700" dirty="0"/>
              <a:t>BV</a:t>
            </a:r>
            <a:r>
              <a:rPr lang="en-IN" sz="1700" baseline="-25000" dirty="0"/>
              <a:t>PP4</a:t>
            </a:r>
            <a:r>
              <a:rPr lang="en-IN" sz="1700" dirty="0"/>
              <a:t> -&gt; 5e17 cm</a:t>
            </a:r>
            <a:r>
              <a:rPr lang="en-IN" sz="1700" baseline="30000" dirty="0"/>
              <a:t>-3</a:t>
            </a:r>
          </a:p>
          <a:p>
            <a:r>
              <a:rPr lang="en-IN" sz="1700" dirty="0"/>
              <a:t>BV</a:t>
            </a:r>
            <a:r>
              <a:rPr lang="en-IN" sz="1700" baseline="-25000" dirty="0"/>
              <a:t>PP5</a:t>
            </a:r>
            <a:r>
              <a:rPr lang="en-IN" sz="1700" dirty="0"/>
              <a:t> -&gt; 1e18 cm</a:t>
            </a:r>
            <a:r>
              <a:rPr lang="en-IN" sz="1700" baseline="30000" dirty="0"/>
              <a:t>-3</a:t>
            </a:r>
          </a:p>
          <a:p>
            <a:endParaRPr lang="en-IN" baseline="30000" dirty="0"/>
          </a:p>
          <a:p>
            <a:r>
              <a:rPr lang="en-IN" sz="1700" dirty="0"/>
              <a:t>Avalanche generation models used:</a:t>
            </a:r>
          </a:p>
          <a:p>
            <a:r>
              <a:rPr lang="en-IN" sz="1700" dirty="0"/>
              <a:t>For electrons: </a:t>
            </a:r>
            <a:r>
              <a:rPr lang="en-IN" sz="1700" dirty="0" err="1"/>
              <a:t>Okuto</a:t>
            </a:r>
            <a:r>
              <a:rPr lang="en-IN" sz="1700" dirty="0"/>
              <a:t>–Crowell Model</a:t>
            </a:r>
          </a:p>
          <a:p>
            <a:r>
              <a:rPr lang="en-IN" sz="1700" dirty="0"/>
              <a:t>For holes: </a:t>
            </a:r>
            <a:r>
              <a:rPr lang="en-IN" sz="1600" dirty="0"/>
              <a:t>van </a:t>
            </a:r>
            <a:r>
              <a:rPr lang="en-IN" sz="1600" dirty="0" err="1"/>
              <a:t>Overstraeten</a:t>
            </a:r>
            <a:r>
              <a:rPr lang="en-IN" sz="1600" dirty="0"/>
              <a:t> – de Man Model 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935759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84D4-69A9-8F0B-4F43-82919B5B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9FEC12-0A97-2ED6-8C9A-1E1C4BC3EE14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5B621-B046-8315-0F2C-8A6D49E1F974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E5CD7-CE1F-D21F-666D-316A3406F0C6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29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D559E-4087-E67F-F1A5-4EF7A536DBE8}"/>
              </a:ext>
            </a:extLst>
          </p:cNvPr>
          <p:cNvSpPr txBox="1"/>
          <p:nvPr/>
        </p:nvSpPr>
        <p:spPr>
          <a:xfrm>
            <a:off x="121815" y="58430"/>
            <a:ext cx="114036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Reverse Saturation Characteristics (Van </a:t>
            </a:r>
            <a:r>
              <a:rPr lang="en-IN" sz="2800" dirty="0" err="1"/>
              <a:t>Overstraeten</a:t>
            </a:r>
            <a:r>
              <a:rPr lang="en-IN" sz="2800" dirty="0"/>
              <a:t> – de Man Model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B69C-9C27-9AF2-2C02-1D6FFF3157A8}"/>
              </a:ext>
            </a:extLst>
          </p:cNvPr>
          <p:cNvSpPr txBox="1"/>
          <p:nvPr/>
        </p:nvSpPr>
        <p:spPr>
          <a:xfrm>
            <a:off x="9296642" y="859355"/>
            <a:ext cx="28236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Reverse Saturation Current      = - 7.062 x 10</a:t>
            </a:r>
            <a:r>
              <a:rPr lang="en-US" b="1" baseline="30000" dirty="0"/>
              <a:t>-6  </a:t>
            </a:r>
            <a:r>
              <a:rPr lang="en-US" b="1" dirty="0"/>
              <a:t>A/cm</a:t>
            </a:r>
            <a:r>
              <a:rPr lang="en-US" b="1" baseline="30000" dirty="0"/>
              <a:t>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D7F2A-2E52-8DAE-A0CA-E01AB9CD6947}"/>
              </a:ext>
            </a:extLst>
          </p:cNvPr>
          <p:cNvSpPr txBox="1"/>
          <p:nvPr/>
        </p:nvSpPr>
        <p:spPr>
          <a:xfrm>
            <a:off x="9279708" y="2137771"/>
            <a:ext cx="30649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Where,</a:t>
            </a:r>
          </a:p>
          <a:p>
            <a:r>
              <a:rPr lang="en-IN" dirty="0"/>
              <a:t>BV</a:t>
            </a:r>
            <a:r>
              <a:rPr lang="en-IN" baseline="-25000" dirty="0"/>
              <a:t>PP1</a:t>
            </a:r>
            <a:r>
              <a:rPr lang="en-IN" dirty="0"/>
              <a:t> -&gt; 1e16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PP2</a:t>
            </a:r>
            <a:r>
              <a:rPr lang="en-IN" dirty="0"/>
              <a:t> -&gt; 5e16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PP3</a:t>
            </a:r>
            <a:r>
              <a:rPr lang="en-IN" dirty="0"/>
              <a:t> -&gt; 1e17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PP4</a:t>
            </a:r>
            <a:r>
              <a:rPr lang="en-IN" dirty="0"/>
              <a:t> -&gt; 5e17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PP5</a:t>
            </a:r>
            <a:r>
              <a:rPr lang="en-IN" dirty="0"/>
              <a:t> -&gt; 1e18 cm</a:t>
            </a:r>
            <a:r>
              <a:rPr lang="en-IN" baseline="30000" dirty="0"/>
              <a:t>-3</a:t>
            </a:r>
          </a:p>
          <a:p>
            <a:endParaRPr lang="en-IN" baseline="30000" dirty="0"/>
          </a:p>
          <a:p>
            <a:r>
              <a:rPr lang="en-IN" dirty="0"/>
              <a:t>Avalanche generation models used:</a:t>
            </a:r>
          </a:p>
          <a:p>
            <a:r>
              <a:rPr lang="en-IN" dirty="0"/>
              <a:t>For electrons and holes:       van </a:t>
            </a:r>
            <a:r>
              <a:rPr lang="en-IN" dirty="0" err="1"/>
              <a:t>Overstraeten</a:t>
            </a:r>
            <a:r>
              <a:rPr lang="en-IN" dirty="0"/>
              <a:t> – de Man Model </a:t>
            </a:r>
          </a:p>
        </p:txBody>
      </p:sp>
      <p:graphicFrame>
        <p:nvGraphicFramePr>
          <p:cNvPr id="5" name="Object 4" descr="Project Path: C:\Users\NIPUN\Documents\OriginLab\User Files\Tuning Parameters\vanoverstratenonly.opju&#10;PE Folder: /vanoverstratenonly/Folder1/&#10;Short Name: Graph1">
            <a:extLst>
              <a:ext uri="{FF2B5EF4-FFF2-40B4-BE49-F238E27FC236}">
                <a16:creationId xmlns:a16="http://schemas.microsoft.com/office/drawing/2014/main" id="{D753A023-06F2-C69A-8504-8AA4F35A6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18" y="256655"/>
          <a:ext cx="9327434" cy="6616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vanoverstratenonly.opju&#10;PE Folder: /vanoverstratenonly/Folder1/&#10;Short Name: Graph1">
                        <a:extLst>
                          <a:ext uri="{FF2B5EF4-FFF2-40B4-BE49-F238E27FC236}">
                            <a16:creationId xmlns:a16="http://schemas.microsoft.com/office/drawing/2014/main" id="{D753A023-06F2-C69A-8504-8AA4F35A6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18" y="256655"/>
                        <a:ext cx="9327434" cy="6616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6538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1D85-C51D-3B80-E693-B5895AA0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5E4364-6DB3-A1C2-69FA-EEF0FE352B7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F208F-9D89-3D32-6FB4-6F26F1D319D5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4C4D0-4004-C823-9F81-538B6F3E40BF}"/>
              </a:ext>
            </a:extLst>
          </p:cNvPr>
          <p:cNvSpPr txBox="1"/>
          <p:nvPr/>
        </p:nvSpPr>
        <p:spPr>
          <a:xfrm>
            <a:off x="9439835" y="6524677"/>
            <a:ext cx="2680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  30                 16 – March </a:t>
            </a:r>
            <a:r>
              <a:rPr sz="1400" dirty="0"/>
              <a:t>-</a:t>
            </a:r>
            <a:r>
              <a:rPr lang="en-IN" sz="1400" dirty="0"/>
              <a:t> 20</a:t>
            </a:r>
            <a:r>
              <a:rPr sz="1400" dirty="0"/>
              <a:t>2</a:t>
            </a:r>
            <a:r>
              <a:rPr lang="en-IN" sz="1400" dirty="0"/>
              <a:t>6</a:t>
            </a:r>
            <a:endParaRPr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FD5C8-844C-1EF3-7A13-178B0DE1A31E}"/>
              </a:ext>
            </a:extLst>
          </p:cNvPr>
          <p:cNvSpPr txBox="1"/>
          <p:nvPr/>
        </p:nvSpPr>
        <p:spPr>
          <a:xfrm>
            <a:off x="121815" y="58430"/>
            <a:ext cx="114854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Reverse Saturation Characteristics  (Van </a:t>
            </a:r>
            <a:r>
              <a:rPr lang="en-IN" sz="2800" dirty="0" err="1"/>
              <a:t>Overstraeten</a:t>
            </a:r>
            <a:r>
              <a:rPr lang="en-IN" sz="2800" dirty="0"/>
              <a:t> – de Man Model only)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C5A9A-5739-DF9B-DE92-5C1B3199B9BC}"/>
              </a:ext>
            </a:extLst>
          </p:cNvPr>
          <p:cNvSpPr txBox="1"/>
          <p:nvPr/>
        </p:nvSpPr>
        <p:spPr>
          <a:xfrm>
            <a:off x="9203515" y="672517"/>
            <a:ext cx="30649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Where,</a:t>
            </a:r>
          </a:p>
          <a:p>
            <a:r>
              <a:rPr lang="en-IN" dirty="0"/>
              <a:t>BV</a:t>
            </a:r>
            <a:r>
              <a:rPr lang="en-IN" baseline="-25000" dirty="0"/>
              <a:t>PP1</a:t>
            </a:r>
            <a:r>
              <a:rPr lang="en-IN" dirty="0"/>
              <a:t> -&gt; 1e16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PP2</a:t>
            </a:r>
            <a:r>
              <a:rPr lang="en-IN" dirty="0"/>
              <a:t> -&gt; 5e16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PP3</a:t>
            </a:r>
            <a:r>
              <a:rPr lang="en-IN" dirty="0"/>
              <a:t> -&gt; 1e17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PP4</a:t>
            </a:r>
            <a:r>
              <a:rPr lang="en-IN" dirty="0"/>
              <a:t> -&gt; 5e17 cm</a:t>
            </a:r>
            <a:r>
              <a:rPr lang="en-IN" baseline="30000" dirty="0"/>
              <a:t>-3</a:t>
            </a:r>
          </a:p>
          <a:p>
            <a:r>
              <a:rPr lang="en-IN" dirty="0"/>
              <a:t>BV</a:t>
            </a:r>
            <a:r>
              <a:rPr lang="en-IN" baseline="-25000" dirty="0"/>
              <a:t>PP5</a:t>
            </a:r>
            <a:r>
              <a:rPr lang="en-IN" dirty="0"/>
              <a:t> -&gt; 1e18 cm</a:t>
            </a:r>
            <a:r>
              <a:rPr lang="en-IN" baseline="30000" dirty="0"/>
              <a:t>-3</a:t>
            </a:r>
          </a:p>
          <a:p>
            <a:endParaRPr lang="en-IN" baseline="30000" dirty="0"/>
          </a:p>
          <a:p>
            <a:r>
              <a:rPr lang="en-IN" dirty="0"/>
              <a:t>Avalanche generation models used:</a:t>
            </a:r>
          </a:p>
          <a:p>
            <a:r>
              <a:rPr lang="en-IN" dirty="0"/>
              <a:t>For electrons and holes:       van </a:t>
            </a:r>
            <a:r>
              <a:rPr lang="en-IN" dirty="0" err="1"/>
              <a:t>Overstraeten</a:t>
            </a:r>
            <a:r>
              <a:rPr lang="en-IN" dirty="0"/>
              <a:t> – de Man Model </a:t>
            </a:r>
          </a:p>
        </p:txBody>
      </p:sp>
      <p:graphicFrame>
        <p:nvGraphicFramePr>
          <p:cNvPr id="2" name="Object 1" descr="Project Path: C:\Users\NIPUN\Documents\OriginLab\User Files\Tuning Parameters\aba_overstratenphi.opju&#10;PE Folder: /aba_overstratenphi/Folder1/&#10;Short Name: Graph1">
            <a:extLst>
              <a:ext uri="{FF2B5EF4-FFF2-40B4-BE49-F238E27FC236}">
                <a16:creationId xmlns:a16="http://schemas.microsoft.com/office/drawing/2014/main" id="{FBBA077A-1321-35B6-B949-106037513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6938" y="201507"/>
          <a:ext cx="9383249" cy="665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aba_overstratenphi.opju&#10;PE Folder: /aba_overstratenphi/Folder1/&#10;Short Name: Graph1">
                        <a:extLst>
                          <a:ext uri="{FF2B5EF4-FFF2-40B4-BE49-F238E27FC236}">
                            <a16:creationId xmlns:a16="http://schemas.microsoft.com/office/drawing/2014/main" id="{FBBA077A-1321-35B6-B949-1060375133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26938" y="201507"/>
                        <a:ext cx="9383249" cy="6656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5573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3CDC-A2B6-B20F-D5B8-7FE9A933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379847-DD22-2F74-CF57-F0792F18C6DC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09798-9A6A-61DB-88CF-0E88A2CFC4D5}"/>
              </a:ext>
            </a:extLst>
          </p:cNvPr>
          <p:cNvSpPr txBox="1"/>
          <p:nvPr/>
        </p:nvSpPr>
        <p:spPr>
          <a:xfrm>
            <a:off x="121815" y="58430"/>
            <a:ext cx="10109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Avalanche Breakdown Characteristics of Si Vertical Schottky Diode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FF1A1-F81D-61F3-87CC-39662E8A245B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BEB6B-ABA8-D427-5163-D0C690E877C9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31                   16 – March - 2026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838AC6-C2BA-83F4-268B-9315327BA218}"/>
              </a:ext>
            </a:extLst>
          </p:cNvPr>
          <p:cNvGraphicFramePr>
            <a:graphicFrameLocks noGrp="1"/>
          </p:cNvGraphicFramePr>
          <p:nvPr/>
        </p:nvGraphicFramePr>
        <p:xfrm>
          <a:off x="9050865" y="794043"/>
          <a:ext cx="303106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3213">
                  <a:extLst>
                    <a:ext uri="{9D8B030D-6E8A-4147-A177-3AD203B41FA5}">
                      <a16:colId xmlns:a16="http://schemas.microsoft.com/office/drawing/2014/main" val="2509177239"/>
                    </a:ext>
                  </a:extLst>
                </a:gridCol>
                <a:gridCol w="1317854">
                  <a:extLst>
                    <a:ext uri="{9D8B030D-6E8A-4147-A177-3AD203B41FA5}">
                      <a16:colId xmlns:a16="http://schemas.microsoft.com/office/drawing/2014/main" val="2083630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DOPING (cm </a:t>
                      </a:r>
                      <a:r>
                        <a:rPr lang="en-IN" b="1" baseline="30000" dirty="0"/>
                        <a:t>-3</a:t>
                      </a:r>
                      <a:r>
                        <a:rPr lang="en-IN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BV</a:t>
                      </a:r>
                      <a:r>
                        <a:rPr lang="en-IN" b="1" baseline="-25000" dirty="0"/>
                        <a:t> </a:t>
                      </a:r>
                      <a:r>
                        <a:rPr lang="en-IN" b="1" dirty="0"/>
                        <a:t>(V)</a:t>
                      </a:r>
                      <a:endParaRPr lang="en-IN" b="1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48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1e16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- 49.01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5e16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3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1e17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-14.19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82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5e17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-7.45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49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1e18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048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8F621A-9C69-F95D-CDE6-3EB305D0328D}"/>
              </a:ext>
            </a:extLst>
          </p:cNvPr>
          <p:cNvSpPr txBox="1"/>
          <p:nvPr/>
        </p:nvSpPr>
        <p:spPr>
          <a:xfrm>
            <a:off x="9050865" y="3222344"/>
            <a:ext cx="30310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Where,</a:t>
            </a:r>
          </a:p>
          <a:p>
            <a:r>
              <a:rPr lang="en-IN" dirty="0"/>
              <a:t>BV</a:t>
            </a:r>
            <a:r>
              <a:rPr lang="en-IN" baseline="-25000" dirty="0"/>
              <a:t> </a:t>
            </a:r>
            <a:r>
              <a:rPr lang="en-IN" dirty="0"/>
              <a:t>= Avalanche Breakdown </a:t>
            </a:r>
          </a:p>
          <a:p>
            <a:r>
              <a:rPr lang="en-IN" dirty="0"/>
              <a:t>Voltage</a:t>
            </a:r>
            <a:endParaRPr lang="en-IN" sz="2000" dirty="0"/>
          </a:p>
        </p:txBody>
      </p:sp>
      <p:graphicFrame>
        <p:nvGraphicFramePr>
          <p:cNvPr id="10" name="Object 9" descr="Project Path: C:\Users\NIPUN\Documents\OriginLab\User Files\Tuning Parameters\icc_differentdopingsvertical.opju&#10;PE Folder: /icc_differentdopingsvertical/Folder1/&#10;Short Name: Graph3">
            <a:extLst>
              <a:ext uri="{FF2B5EF4-FFF2-40B4-BE49-F238E27FC236}">
                <a16:creationId xmlns:a16="http://schemas.microsoft.com/office/drawing/2014/main" id="{CAC0BA9A-F3C7-0F95-4647-614B46A94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32" y="334110"/>
          <a:ext cx="9084784" cy="64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0" name="Object 9" descr="Project Path: C:\Users\NIPUN\Documents\OriginLab\User Files\Tuning Parameters\icc_differentdopingsvertical.opju&#10;PE Folder: /icc_differentdopingsvertical/Folder1/&#10;Short Name: Graph3">
                        <a:extLst>
                          <a:ext uri="{FF2B5EF4-FFF2-40B4-BE49-F238E27FC236}">
                            <a16:creationId xmlns:a16="http://schemas.microsoft.com/office/drawing/2014/main" id="{CAC0BA9A-F3C7-0F95-4647-614B46A94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32" y="334110"/>
                        <a:ext cx="9084784" cy="6444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4862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EE5BA-C013-7E8A-7E1A-8730BE6C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B64AEE-5808-2FEF-2394-17BBC0AE2893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DF388-040F-027E-95FA-79B8B29D1C55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F21BB-5EC3-048B-7F3A-695B2204C933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472E5-8229-6671-E1DA-8336E80F3680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32                  16 – March - 2026</a:t>
            </a:r>
          </a:p>
        </p:txBody>
      </p:sp>
      <p:graphicFrame>
        <p:nvGraphicFramePr>
          <p:cNvPr id="26" name="Object 25" descr="Project Path: C:\Users\NIPUN\Documents\OriginLab\User Files\Tuning Parameters\electricfieldverticalicc.opju&#10;PE Folder: /electricfieldverticalicc/Folder1/&#10;Short Name: Graph1">
            <a:extLst>
              <a:ext uri="{FF2B5EF4-FFF2-40B4-BE49-F238E27FC236}">
                <a16:creationId xmlns:a16="http://schemas.microsoft.com/office/drawing/2014/main" id="{5BFB7280-A95C-80EE-4DD4-0704E06D6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2683" y="461686"/>
          <a:ext cx="7197604" cy="5105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6" name="Object 25" descr="Project Path: C:\Users\NIPUN\Documents\OriginLab\User Files\Tuning Parameters\electricfieldverticalicc.opju&#10;PE Folder: /electricfieldverticalicc/Folder1/&#10;Short Name: Graph1">
                        <a:extLst>
                          <a:ext uri="{FF2B5EF4-FFF2-40B4-BE49-F238E27FC236}">
                            <a16:creationId xmlns:a16="http://schemas.microsoft.com/office/drawing/2014/main" id="{5BFB7280-A95C-80EE-4DD4-0704E06D6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82683" y="461686"/>
                        <a:ext cx="7197604" cy="5105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F0A0B990-DE86-50C3-5D1A-56FF8F4D0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5" y="1101094"/>
            <a:ext cx="4763218" cy="391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77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C580-DB92-C3A0-4227-9F13B18B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C9285D-C99F-EB56-FEE9-64A8602105D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8314B-70CE-E2B2-234A-5D2516A543FF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F72D1-444C-E295-8414-8ADCEB142352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B5578-E2CF-53AB-1D80-57476E64178C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33                   16 – March - 2026</a:t>
            </a:r>
          </a:p>
        </p:txBody>
      </p:sp>
      <p:graphicFrame>
        <p:nvGraphicFramePr>
          <p:cNvPr id="17" name="Object 16" descr="Project Path: C:\Users\NIPUN\Documents\OriginLab\User Files\Tuning Parameters\electricfieldverticalicc.opju&#10;PE Folder: /electricfieldverticalicc/Folder1/&#10;Short Name: Graph6">
            <a:extLst>
              <a:ext uri="{FF2B5EF4-FFF2-40B4-BE49-F238E27FC236}">
                <a16:creationId xmlns:a16="http://schemas.microsoft.com/office/drawing/2014/main" id="{8AE2B16B-89BD-D5DC-8D08-F23E45EAC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6719" y="563287"/>
          <a:ext cx="6800627" cy="5024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7" name="Object 16" descr="Project Path: C:\Users\NIPUN\Documents\OriginLab\User Files\Tuning Parameters\electricfieldverticalicc.opju&#10;PE Folder: /electricfieldverticalicc/Folder1/&#10;Short Name: Graph6">
                        <a:extLst>
                          <a:ext uri="{FF2B5EF4-FFF2-40B4-BE49-F238E27FC236}">
                            <a16:creationId xmlns:a16="http://schemas.microsoft.com/office/drawing/2014/main" id="{8AE2B16B-89BD-D5DC-8D08-F23E45EAC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6719" y="563287"/>
                        <a:ext cx="6800627" cy="5024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0612ED28-F625-3E56-01D4-8B7FCA7BF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5" y="1086507"/>
            <a:ext cx="5212499" cy="385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95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1779-8D78-D591-6C3F-661AF551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848956-2CAA-2C7C-D723-07C23B14DB6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284D1-E7B8-C27D-647B-4D093C006ED5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F573AA-0937-AD14-BC7B-E28D3001A10E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28E9B-8A3A-1FD4-D88A-9AAF261BA6D9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34                  16 – March - 2026</a:t>
            </a:r>
          </a:p>
        </p:txBody>
      </p:sp>
      <p:graphicFrame>
        <p:nvGraphicFramePr>
          <p:cNvPr id="15" name="Object 14" descr="Project Path: C:\Users\NIPUN\Documents\OriginLab\User Files\Tuning Parameters\electricfieldverticalicc.opju&#10;PE Folder: /electricfieldverticalicc/Folder1/&#10;Short Name: Graph7">
            <a:extLst>
              <a:ext uri="{FF2B5EF4-FFF2-40B4-BE49-F238E27FC236}">
                <a16:creationId xmlns:a16="http://schemas.microsoft.com/office/drawing/2014/main" id="{D5004ED6-128C-E448-5072-2BAEAA164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6240" y="586750"/>
          <a:ext cx="6797039" cy="5083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5" name="Object 14" descr="Project Path: C:\Users\NIPUN\Documents\OriginLab\User Files\Tuning Parameters\electricfieldverticalicc.opju&#10;PE Folder: /electricfieldverticalicc/Folder1/&#10;Short Name: Graph7">
                        <a:extLst>
                          <a:ext uri="{FF2B5EF4-FFF2-40B4-BE49-F238E27FC236}">
                            <a16:creationId xmlns:a16="http://schemas.microsoft.com/office/drawing/2014/main" id="{D5004ED6-128C-E448-5072-2BAEAA16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76240" y="586750"/>
                        <a:ext cx="6797039" cy="5083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D07939A8-66E8-96B1-B1A6-531E7065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5" y="1050762"/>
            <a:ext cx="5222345" cy="41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0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F43E-1EA9-2109-9B17-6052ED3C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1218EE-63DB-F242-C1DC-ABB57B12470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CE525-B8D9-A159-E30C-E5E65A57ED07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746580-4D70-8DDB-87EA-BBD40466988B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D9BD15-A7D1-5D4B-5355-BB7629A6B426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35                   16 – March - 2026</a:t>
            </a:r>
          </a:p>
        </p:txBody>
      </p:sp>
      <p:graphicFrame>
        <p:nvGraphicFramePr>
          <p:cNvPr id="10" name="Object 9" descr="Project Path: C:\Users\NIPUN\Documents\OriginLab\User Files\Tuning Parameters\electricfieldverticalicc.opju&#10;PE Folder: /electricfieldverticalicc/Folder1/&#10;Short Name: Graph8">
            <a:extLst>
              <a:ext uri="{FF2B5EF4-FFF2-40B4-BE49-F238E27FC236}">
                <a16:creationId xmlns:a16="http://schemas.microsoft.com/office/drawing/2014/main" id="{7BAF78E7-B7CA-AD7D-211A-A6B461FC4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3513" y="884012"/>
          <a:ext cx="6272874" cy="444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0" name="Object 9" descr="Project Path: C:\Users\NIPUN\Documents\OriginLab\User Files\Tuning Parameters\electricfieldverticalicc.opju&#10;PE Folder: /electricfieldverticalicc/Folder1/&#10;Short Name: Graph8">
                        <a:extLst>
                          <a:ext uri="{FF2B5EF4-FFF2-40B4-BE49-F238E27FC236}">
                            <a16:creationId xmlns:a16="http://schemas.microsoft.com/office/drawing/2014/main" id="{7BAF78E7-B7CA-AD7D-211A-A6B461FC4B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3513" y="884012"/>
                        <a:ext cx="6272874" cy="444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577A0D9-1923-FC36-FFE4-6AB5F7DBE4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1" y="1056732"/>
            <a:ext cx="5639706" cy="41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32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834F-7200-4347-59CB-964B9DEB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05E016-F77F-9220-7F35-DE6D5CBB1E3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86152-2AF7-A89B-B6D1-62DB340940CB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3BBBAB-F146-6E77-B143-17BD4F644514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454FD-3CB2-A293-1C84-C29180C96017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36                   16 – March - 2026</a:t>
            </a:r>
          </a:p>
        </p:txBody>
      </p:sp>
      <p:graphicFrame>
        <p:nvGraphicFramePr>
          <p:cNvPr id="10" name="Object 9" descr="Project Path: C:\Users\NIPUN\Documents\OriginLab\User Files\Tuning Parameters\electricfieldverticalicc.opju&#10;PE Folder: /electricfieldverticalicc/Folder1/&#10;Short Name: Graph9">
            <a:extLst>
              <a:ext uri="{FF2B5EF4-FFF2-40B4-BE49-F238E27FC236}">
                <a16:creationId xmlns:a16="http://schemas.microsoft.com/office/drawing/2014/main" id="{D774F81D-D7F5-7EE5-9615-9AB566884B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8480" y="525790"/>
          <a:ext cx="6638067" cy="484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10" name="Object 9" descr="Project Path: C:\Users\NIPUN\Documents\OriginLab\User Files\Tuning Parameters\electricfieldverticalicc.opju&#10;PE Folder: /electricfieldverticalicc/Folder1/&#10;Short Name: Graph9">
                        <a:extLst>
                          <a:ext uri="{FF2B5EF4-FFF2-40B4-BE49-F238E27FC236}">
                            <a16:creationId xmlns:a16="http://schemas.microsoft.com/office/drawing/2014/main" id="{D774F81D-D7F5-7EE5-9615-9AB566884B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18480" y="525790"/>
                        <a:ext cx="6638067" cy="484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FBE3B38-64FB-F9F1-90E7-A0A1FD835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8" y="990916"/>
            <a:ext cx="5446745" cy="40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93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2CF8-660D-293F-E0B0-A197B7B4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5B4E9-8B8B-9753-1CB8-7C4770C092D0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E8070-AC5F-65FA-9EEC-89B4FA127B1D}"/>
              </a:ext>
            </a:extLst>
          </p:cNvPr>
          <p:cNvSpPr txBox="1"/>
          <p:nvPr/>
        </p:nvSpPr>
        <p:spPr>
          <a:xfrm>
            <a:off x="121815" y="58430"/>
            <a:ext cx="6887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 - Field Profile at Breakdown Voltage regime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ACA79-9E21-D231-C85B-59584453FAD5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98096-EEB7-3267-6382-4C8A3C30AC40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37                  16 – March - 2026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EAC153-6464-C818-8438-14796B4F6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162568"/>
              </p:ext>
            </p:extLst>
          </p:nvPr>
        </p:nvGraphicFramePr>
        <p:xfrm>
          <a:off x="1014405" y="885647"/>
          <a:ext cx="9858872" cy="25433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6551">
                  <a:extLst>
                    <a:ext uri="{9D8B030D-6E8A-4147-A177-3AD203B41FA5}">
                      <a16:colId xmlns:a16="http://schemas.microsoft.com/office/drawing/2014/main" val="2813245172"/>
                    </a:ext>
                  </a:extLst>
                </a:gridCol>
                <a:gridCol w="3158067">
                  <a:extLst>
                    <a:ext uri="{9D8B030D-6E8A-4147-A177-3AD203B41FA5}">
                      <a16:colId xmlns:a16="http://schemas.microsoft.com/office/drawing/2014/main" val="2509177239"/>
                    </a:ext>
                  </a:extLst>
                </a:gridCol>
                <a:gridCol w="3924254">
                  <a:extLst>
                    <a:ext uri="{9D8B030D-6E8A-4147-A177-3AD203B41FA5}">
                      <a16:colId xmlns:a16="http://schemas.microsoft.com/office/drawing/2014/main" val="2083630048"/>
                    </a:ext>
                  </a:extLst>
                </a:gridCol>
              </a:tblGrid>
              <a:tr h="509933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Doping Conc. (cm </a:t>
                      </a:r>
                      <a:r>
                        <a:rPr lang="en-IN" sz="2400" b="1" baseline="30000" dirty="0"/>
                        <a:t>-3 </a:t>
                      </a:r>
                      <a:r>
                        <a:rPr lang="en-IN" sz="24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Breakdown 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Max Electric Field (E</a:t>
                      </a:r>
                      <a:r>
                        <a:rPr lang="en-IN" sz="2400" b="1" baseline="-25000" dirty="0"/>
                        <a:t>m</a:t>
                      </a:r>
                      <a:r>
                        <a:rPr lang="en-IN" sz="2400" b="1" dirty="0"/>
                        <a:t>) [V/cm]</a:t>
                      </a:r>
                      <a:endParaRPr lang="en-IN" sz="2400" b="1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480448"/>
                  </a:ext>
                </a:extLst>
              </a:tr>
              <a:tr h="40668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1e16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-49.01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4.0146 x 10</a:t>
                      </a:r>
                      <a:r>
                        <a:rPr lang="en-IN" sz="2000" baseline="30000"/>
                        <a:t>5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7147"/>
                  </a:ext>
                </a:extLst>
              </a:tr>
              <a:tr h="40668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5e16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-20.14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5.6210 x 10</a:t>
                      </a:r>
                      <a:r>
                        <a:rPr lang="en-IN" sz="2000" baseline="30000" dirty="0"/>
                        <a:t>5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39673"/>
                  </a:ext>
                </a:extLst>
              </a:tr>
              <a:tr h="40668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1e17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-14.19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6.6739 x 10</a:t>
                      </a:r>
                      <a:r>
                        <a:rPr lang="en-IN" sz="2000" baseline="30000" dirty="0"/>
                        <a:t>5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823332"/>
                  </a:ext>
                </a:extLst>
              </a:tr>
              <a:tr h="40668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5e17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-7.45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1.0770 x 10</a:t>
                      </a:r>
                      <a:r>
                        <a:rPr lang="en-IN" sz="2000" baseline="300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492630"/>
                  </a:ext>
                </a:extLst>
              </a:tr>
              <a:tr h="40668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1e18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-6.23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1.3789 x 10</a:t>
                      </a:r>
                      <a:r>
                        <a:rPr lang="en-IN" sz="2000" baseline="30000" dirty="0"/>
                        <a:t>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048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00B41C-3D12-1545-45EE-7346FCB9BD65}"/>
                  </a:ext>
                </a:extLst>
              </p:cNvPr>
              <p:cNvSpPr txBox="1"/>
              <p:nvPr/>
            </p:nvSpPr>
            <p:spPr>
              <a:xfrm>
                <a:off x="994156" y="3674567"/>
                <a:ext cx="5100320" cy="2640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V</a:t>
                </a:r>
                <a:r>
                  <a:rPr lang="en-IN" sz="2400" baseline="-25000" dirty="0"/>
                  <a:t>BR </a:t>
                </a:r>
                <a:r>
                  <a:rPr lang="en-IN" sz="24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−−−−−−−−−  (18)</m:t>
                    </m:r>
                  </m:oMath>
                </a14:m>
                <a:endParaRPr lang="en-IN" sz="2400" baseline="-25000" dirty="0"/>
              </a:p>
              <a:p>
                <a:endParaRPr lang="en-IN" sz="2400" baseline="-25000" dirty="0"/>
              </a:p>
              <a:p>
                <a:r>
                  <a:rPr lang="en-IN" sz="2400" baseline="-25000" dirty="0"/>
                  <a:t>          </a:t>
                </a:r>
                <a:r>
                  <a:rPr lang="en-IN" sz="24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    2</m:t>
                            </m:r>
                          </m:sup>
                        </m:sSubSup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𝑑𝑜𝑝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sz="2400" b="0" dirty="0"/>
                  <a:t>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−−−−−−−−−  (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b="0" dirty="0"/>
              </a:p>
              <a:p>
                <a:endParaRPr lang="en-IN" sz="2400" b="0" dirty="0"/>
              </a:p>
              <a:p>
                <a:r>
                  <a:rPr lang="en-IN" sz="2400" baseline="-25000" dirty="0"/>
                  <a:t>         </a:t>
                </a:r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𝑑𝑜𝑝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IN" sz="2400" dirty="0"/>
                  <a:t>    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−−−−−−−−−  (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00B41C-3D12-1545-45EE-7346FCB9B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6" y="3674567"/>
                <a:ext cx="5100320" cy="2640146"/>
              </a:xfrm>
              <a:prstGeom prst="rect">
                <a:avLst/>
              </a:prstGeom>
              <a:blipFill>
                <a:blip r:embed="rId3"/>
                <a:stretch>
                  <a:fillRect l="-1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236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AB8-B15E-0CB9-0C98-D6781539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5A5336-051A-85F2-3679-7C21E9071823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0C92A-FFA1-8C62-EECB-933672533B86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13A88-30E5-D19A-C496-2715F40387AE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3E461-7098-89C2-0B18-B7DB9CF6C370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38                  16 – March - 2026</a:t>
            </a:r>
          </a:p>
        </p:txBody>
      </p:sp>
      <p:graphicFrame>
        <p:nvGraphicFramePr>
          <p:cNvPr id="2" name="Object 1" descr="Project Path: C:\Users\NIPUN\Documents\OriginLab\User Files\Tuning Parameters\iic_energybanddiagram.opju&#10;PE Folder: /iic_energybanddiagram/Folder1/&#10;Short Name: Graph1">
            <a:extLst>
              <a:ext uri="{FF2B5EF4-FFF2-40B4-BE49-F238E27FC236}">
                <a16:creationId xmlns:a16="http://schemas.microsoft.com/office/drawing/2014/main" id="{9BB4447C-3D8C-246B-60AE-5894897D0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6" y="474131"/>
          <a:ext cx="6027147" cy="427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2" name="Object 1" descr="Project Path: C:\Users\NIPUN\Documents\OriginLab\User Files\Tuning Parameters\iic_energybanddiagram.opju&#10;PE Folder: /iic_energybanddiagram/Folder1/&#10;Short Name: Graph1">
                        <a:extLst>
                          <a:ext uri="{FF2B5EF4-FFF2-40B4-BE49-F238E27FC236}">
                            <a16:creationId xmlns:a16="http://schemas.microsoft.com/office/drawing/2014/main" id="{9BB4447C-3D8C-246B-60AE-5894897D03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546" y="474131"/>
                        <a:ext cx="6027147" cy="427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NIPUN\Documents\OriginLab\User Files\Tuning Parameters\iic_energybanddiagram.opju&#10;PE Folder: /iic_energybanddiagram/Folder1/&#10;Short Name: Graph2">
            <a:extLst>
              <a:ext uri="{FF2B5EF4-FFF2-40B4-BE49-F238E27FC236}">
                <a16:creationId xmlns:a16="http://schemas.microsoft.com/office/drawing/2014/main" id="{A486D14C-336C-1518-4A82-EBBD12F359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2877" y="507999"/>
          <a:ext cx="6182298" cy="438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iic_energybanddiagram.opju&#10;PE Folder: /iic_energybanddiagram/Folder1/&#10;Short Name: Graph2">
                        <a:extLst>
                          <a:ext uri="{FF2B5EF4-FFF2-40B4-BE49-F238E27FC236}">
                            <a16:creationId xmlns:a16="http://schemas.microsoft.com/office/drawing/2014/main" id="{A486D14C-336C-1518-4A82-EBBD12F35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2877" y="507999"/>
                        <a:ext cx="6182298" cy="4385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153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6172-F3FD-1C50-F4DD-1427D1C5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339409-87D4-F7A1-6442-AAA5E98C706C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92667-8FD3-A367-0013-47A6982E51E7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C2A15-9655-706B-5473-2C04D1625223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598BC-2877-3F5C-F482-ADE586C6B0ED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39                   16 – March - 2026</a:t>
            </a:r>
          </a:p>
        </p:txBody>
      </p:sp>
      <p:graphicFrame>
        <p:nvGraphicFramePr>
          <p:cNvPr id="6" name="Object 5" descr="Project Path: C:\Users\NIPUN\Documents\OriginLab\User Files\Tuning Parameters\iic_energybanddiagram.opju&#10;PE Folder: /iic_energybanddiagram/Folder1/&#10;Short Name: Graph3">
            <a:extLst>
              <a:ext uri="{FF2B5EF4-FFF2-40B4-BE49-F238E27FC236}">
                <a16:creationId xmlns:a16="http://schemas.microsoft.com/office/drawing/2014/main" id="{152CEA0D-C759-7DF0-2229-9D9BC8467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00" y="698510"/>
          <a:ext cx="6140513" cy="435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6" name="Object 5" descr="Project Path: C:\Users\NIPUN\Documents\OriginLab\User Files\Tuning Parameters\iic_energybanddiagram.opju&#10;PE Folder: /iic_energybanddiagram/Folder1/&#10;Short Name: Graph3">
                        <a:extLst>
                          <a:ext uri="{FF2B5EF4-FFF2-40B4-BE49-F238E27FC236}">
                            <a16:creationId xmlns:a16="http://schemas.microsoft.com/office/drawing/2014/main" id="{152CEA0D-C759-7DF0-2229-9D9BC8467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800" y="698510"/>
                        <a:ext cx="6140513" cy="4356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Project Path: C:\Users\NIPUN\Documents\OriginLab\User Files\Tuning Parameters\iic_energybanddiagram.opju&#10;PE Folder: /iic_energybanddiagram/Folder1/&#10;Short Name: Graph4">
            <a:extLst>
              <a:ext uri="{FF2B5EF4-FFF2-40B4-BE49-F238E27FC236}">
                <a16:creationId xmlns:a16="http://schemas.microsoft.com/office/drawing/2014/main" id="{B4802BCB-F1BC-AB32-0AAC-BFF6DC6A7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9143" y="755980"/>
          <a:ext cx="6046724" cy="4289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6949440" progId="Origin95.Graph">
                  <p:embed/>
                </p:oleObj>
              </mc:Choice>
              <mc:Fallback>
                <p:oleObj name="Graph" r:id="rId5" imgW="9802368" imgH="6949440" progId="Origin95.Graph">
                  <p:embed/>
                  <p:pic>
                    <p:nvPicPr>
                      <p:cNvPr id="7" name="Object 6" descr="Project Path: C:\Users\NIPUN\Documents\OriginLab\User Files\Tuning Parameters\iic_energybanddiagram.opju&#10;PE Folder: /iic_energybanddiagram/Folder1/&#10;Short Name: Graph4">
                        <a:extLst>
                          <a:ext uri="{FF2B5EF4-FFF2-40B4-BE49-F238E27FC236}">
                            <a16:creationId xmlns:a16="http://schemas.microsoft.com/office/drawing/2014/main" id="{B4802BCB-F1BC-AB32-0AAC-BFF6DC6A7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9143" y="755980"/>
                        <a:ext cx="6046724" cy="42895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9445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CC03-E97B-394D-F4EB-00B37140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BE352C-2264-6B64-B76E-1CB2AFA7EE52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BFB77-67BE-B9BB-5E1A-9032ADE6E4A4}"/>
              </a:ext>
            </a:extLst>
          </p:cNvPr>
          <p:cNvSpPr txBox="1"/>
          <p:nvPr/>
        </p:nvSpPr>
        <p:spPr>
          <a:xfrm>
            <a:off x="121815" y="58430"/>
            <a:ext cx="33769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sz="2800" dirty="0"/>
              <a:t>Energy Band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8265D-FC11-6EBC-433D-65D321314B32}"/>
              </a:ext>
            </a:extLst>
          </p:cNvPr>
          <p:cNvSpPr/>
          <p:nvPr/>
        </p:nvSpPr>
        <p:spPr>
          <a:xfrm>
            <a:off x="9606882" y="6492240"/>
            <a:ext cx="2583659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926CE-1C5F-B1B8-8A86-C1FBF054E3EE}"/>
              </a:ext>
            </a:extLst>
          </p:cNvPr>
          <p:cNvSpPr txBox="1"/>
          <p:nvPr/>
        </p:nvSpPr>
        <p:spPr>
          <a:xfrm>
            <a:off x="9581448" y="6524677"/>
            <a:ext cx="2583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rPr lang="en-IN" sz="1400" dirty="0"/>
              <a:t>40                   16 – March - 2026</a:t>
            </a:r>
          </a:p>
        </p:txBody>
      </p:sp>
      <p:graphicFrame>
        <p:nvGraphicFramePr>
          <p:cNvPr id="5" name="Object 4" descr="Project Path: C:\Users\NIPUN\Documents\OriginLab\User Files\Tuning Parameters\iic_energybanddiagram.opju&#10;PE Folder: /iic_energybanddiagram/Folder1/&#10;Short Name: Graph5">
            <a:extLst>
              <a:ext uri="{FF2B5EF4-FFF2-40B4-BE49-F238E27FC236}">
                <a16:creationId xmlns:a16="http://schemas.microsoft.com/office/drawing/2014/main" id="{987F02CC-7E64-F9DA-8436-78BBA06484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4533" y="320039"/>
          <a:ext cx="8472349" cy="6010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6949440" progId="Origin95.Graph">
                  <p:embed/>
                </p:oleObj>
              </mc:Choice>
              <mc:Fallback>
                <p:oleObj name="Graph" r:id="rId3" imgW="9802368" imgH="6949440" progId="Origin95.Graph">
                  <p:embed/>
                  <p:pic>
                    <p:nvPicPr>
                      <p:cNvPr id="5" name="Object 4" descr="Project Path: C:\Users\NIPUN\Documents\OriginLab\User Files\Tuning Parameters\iic_energybanddiagram.opju&#10;PE Folder: /iic_energybanddiagram/Folder1/&#10;Short Name: Graph5">
                        <a:extLst>
                          <a:ext uri="{FF2B5EF4-FFF2-40B4-BE49-F238E27FC236}">
                            <a16:creationId xmlns:a16="http://schemas.microsoft.com/office/drawing/2014/main" id="{987F02CC-7E64-F9DA-8436-78BBA0648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4533" y="320039"/>
                        <a:ext cx="8472349" cy="6010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6885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1D8C-DF74-4BEE-1B2D-1EC5ED1F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6AFF5C-D1E0-A13E-C376-3013C8B469EC}"/>
              </a:ext>
            </a:extLst>
          </p:cNvPr>
          <p:cNvSpPr/>
          <p:nvPr/>
        </p:nvSpPr>
        <p:spPr>
          <a:xfrm>
            <a:off x="0" y="1561571"/>
            <a:ext cx="12188952" cy="3429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0A5BE-B1C9-0136-9F87-020B94B95D95}"/>
              </a:ext>
            </a:extLst>
          </p:cNvPr>
          <p:cNvSpPr txBox="1"/>
          <p:nvPr/>
        </p:nvSpPr>
        <p:spPr>
          <a:xfrm>
            <a:off x="3834962" y="1556174"/>
            <a:ext cx="4515980" cy="3631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sz="11500" dirty="0"/>
              <a:t>THANK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sz="11500" dirty="0"/>
              <a:t>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18C01-A25D-D59D-89E6-413D7BED954E}"/>
              </a:ext>
            </a:extLst>
          </p:cNvPr>
          <p:cNvSpPr/>
          <p:nvPr/>
        </p:nvSpPr>
        <p:spPr>
          <a:xfrm>
            <a:off x="-1459" y="1439314"/>
            <a:ext cx="12192000" cy="116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F65E70-E8FF-41A7-CA6D-2B01EB7A3967}"/>
              </a:ext>
            </a:extLst>
          </p:cNvPr>
          <p:cNvSpPr/>
          <p:nvPr/>
        </p:nvSpPr>
        <p:spPr>
          <a:xfrm>
            <a:off x="-3048" y="4990702"/>
            <a:ext cx="12192000" cy="116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4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1522</Words>
  <Application>Microsoft Office PowerPoint</Application>
  <PresentationFormat>Widescreen</PresentationFormat>
  <Paragraphs>306</Paragraphs>
  <Slides>43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Times New Roman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NIPUN SHARMA</dc:creator>
  <cp:lastModifiedBy>NIPUN SHARMA</cp:lastModifiedBy>
  <cp:revision>3</cp:revision>
  <dcterms:created xsi:type="dcterms:W3CDTF">2026-03-16T06:10:35Z</dcterms:created>
  <dcterms:modified xsi:type="dcterms:W3CDTF">2026-03-16T13:14:58Z</dcterms:modified>
</cp:coreProperties>
</file>